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d4d55eef9c4be0" /><Relationship Type="http://schemas.openxmlformats.org/officeDocument/2006/relationships/extended-properties" Target="/docProps/app.xml" Id="Rf5ff0bbf9e524331" /><Relationship Type="http://schemas.openxmlformats.org/officeDocument/2006/relationships/officeDocument" Target="/ppt/presentation.xml" Id="Ra74bf76a1fa84196" /></Relationships>
</file>

<file path=ppt/presentation.xml><?xml version="1.0" encoding="utf-8"?>
<p:presentation xmlns:p="http://schemas.openxmlformats.org/presentationml/2006/main">
  <p:sldMasterIdLst>
    <p:sldMasterId xmlns:r="http://schemas.openxmlformats.org/officeDocument/2006/relationships" id="2147483648" r:id="Rc55a74b126c14ced"/>
  </p:sldMasterIdLst>
  <p:notesMasterIdLst>
    <p:notesMasterId xmlns:r="http://schemas.openxmlformats.org/officeDocument/2006/relationships" r:id="R88f1672b39554c4f"/>
  </p:notesMasterIdLst>
  <p:sldIdLst>
    <p:sldId xmlns:r="http://schemas.openxmlformats.org/officeDocument/2006/relationships" id="256" r:id="Rd5c0c4e451324c18"/>
    <p:sldId xmlns:r="http://schemas.openxmlformats.org/officeDocument/2006/relationships" id="257" r:id="R5a478979990e4f15"/>
    <p:sldId xmlns:r="http://schemas.openxmlformats.org/officeDocument/2006/relationships" id="258" r:id="Raa98e07810734b89"/>
    <p:sldId xmlns:r="http://schemas.openxmlformats.org/officeDocument/2006/relationships" id="259" r:id="R062189a9b8fc41d3"/>
    <p:sldId xmlns:r="http://schemas.openxmlformats.org/officeDocument/2006/relationships" id="260" r:id="R615b033c5b954b35"/>
    <p:sldId xmlns:r="http://schemas.openxmlformats.org/officeDocument/2006/relationships" id="261" r:id="Raa776ea150d14ddf"/>
    <p:sldId xmlns:r="http://schemas.openxmlformats.org/officeDocument/2006/relationships" id="262" r:id="Re8b0155c1bed40f8"/>
    <p:sldId xmlns:r="http://schemas.openxmlformats.org/officeDocument/2006/relationships" id="263" r:id="Rdcd1f4f005ce4fc8"/>
    <p:sldId xmlns:r="http://schemas.openxmlformats.org/officeDocument/2006/relationships" id="264" r:id="R3478b3cff03e47da"/>
    <p:sldId xmlns:r="http://schemas.openxmlformats.org/officeDocument/2006/relationships" id="265" r:id="R4dc8e2cac4a247da"/>
    <p:sldId xmlns:r="http://schemas.openxmlformats.org/officeDocument/2006/relationships" id="266" r:id="Rb8bd344cf75146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6ad97b4c7b4c36" /><Relationship Type="http://schemas.openxmlformats.org/officeDocument/2006/relationships/slideMaster" Target="/ppt/slideMasters/slideMaster1.xml" Id="Rc55a74b126c14ced" /><Relationship Type="http://schemas.openxmlformats.org/officeDocument/2006/relationships/notesMaster" Target="/ppt/notesMasters/notesMaster1.xml" Id="R88f1672b39554c4f" /><Relationship Type="http://schemas.openxmlformats.org/officeDocument/2006/relationships/presProps" Target="/ppt/presProps.xml" Id="R7dd89ddced2b4d80" /><Relationship Type="http://schemas.openxmlformats.org/officeDocument/2006/relationships/tableStyles" Target="/ppt/tableStyles.xml" Id="R2f2bf1c671f74873" /><Relationship Type="http://schemas.openxmlformats.org/officeDocument/2006/relationships/slide" Target="/ppt/slides/slide1.xml" Id="Rd5c0c4e451324c18" /><Relationship Type="http://schemas.openxmlformats.org/officeDocument/2006/relationships/slide" Target="/ppt/slides/slide2.xml" Id="R5a478979990e4f15" /><Relationship Type="http://schemas.openxmlformats.org/officeDocument/2006/relationships/slide" Target="/ppt/slides/slide3.xml" Id="Raa98e07810734b89" /><Relationship Type="http://schemas.openxmlformats.org/officeDocument/2006/relationships/slide" Target="/ppt/slides/slide4.xml" Id="R062189a9b8fc41d3" /><Relationship Type="http://schemas.openxmlformats.org/officeDocument/2006/relationships/slide" Target="/ppt/slides/slide5.xml" Id="R615b033c5b954b35" /><Relationship Type="http://schemas.openxmlformats.org/officeDocument/2006/relationships/slide" Target="/ppt/slides/slide6.xml" Id="Raa776ea150d14ddf" /><Relationship Type="http://schemas.openxmlformats.org/officeDocument/2006/relationships/slide" Target="/ppt/slides/slide7.xml" Id="Re8b0155c1bed40f8" /><Relationship Type="http://schemas.openxmlformats.org/officeDocument/2006/relationships/slide" Target="/ppt/slides/slide8.xml" Id="Rdcd1f4f005ce4fc8" /><Relationship Type="http://schemas.openxmlformats.org/officeDocument/2006/relationships/slide" Target="/ppt/slides/slide9.xml" Id="R3478b3cff03e47da" /><Relationship Type="http://schemas.openxmlformats.org/officeDocument/2006/relationships/slide" Target="/ppt/slides/slide10.xml" Id="R4dc8e2cac4a247da" /><Relationship Type="http://schemas.openxmlformats.org/officeDocument/2006/relationships/slide" Target="/ppt/slides/slide11.xml" Id="Rb8bd344cf75146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aab1ebc0ed49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93143ef5e44e75" /><Relationship Type="http://schemas.openxmlformats.org/officeDocument/2006/relationships/notesMaster" Target="/ppt/notesMasters/notesMaster1.xml" Id="R09bd99c7533c42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031c3dadf44696" /><Relationship Type="http://schemas.openxmlformats.org/officeDocument/2006/relationships/notesMaster" Target="/ppt/notesMasters/notesMaster1.xml" Id="R859917e0da234e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dea43adc7d4a74" /><Relationship Type="http://schemas.openxmlformats.org/officeDocument/2006/relationships/notesMaster" Target="/ppt/notesMasters/notesMaster1.xml" Id="R43cc49d888fc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9428954ab84997" /><Relationship Type="http://schemas.openxmlformats.org/officeDocument/2006/relationships/notesMaster" Target="/ppt/notesMasters/notesMaster1.xml" Id="R5bfa3ae1d27642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997ff8c431456d" /><Relationship Type="http://schemas.openxmlformats.org/officeDocument/2006/relationships/notesMaster" Target="/ppt/notesMasters/notesMaster1.xml" Id="R5dcddaf09e3741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f29908067f4272" /><Relationship Type="http://schemas.openxmlformats.org/officeDocument/2006/relationships/notesMaster" Target="/ppt/notesMasters/notesMaster1.xml" Id="R167a34b17b2540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c8ef8edfe4f75" /><Relationship Type="http://schemas.openxmlformats.org/officeDocument/2006/relationships/notesMaster" Target="/ppt/notesMasters/notesMaster1.xml" Id="R8c1632f28bdc4d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f3c91d410f4fb1" /><Relationship Type="http://schemas.openxmlformats.org/officeDocument/2006/relationships/notesMaster" Target="/ppt/notesMasters/notesMaster1.xml" Id="R25804e740ad24c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5ff99b4c264cc6" /><Relationship Type="http://schemas.openxmlformats.org/officeDocument/2006/relationships/notesMaster" Target="/ppt/notesMasters/notesMaster1.xml" Id="R50dba083cfb748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1d00218ebb4c25" /><Relationship Type="http://schemas.openxmlformats.org/officeDocument/2006/relationships/notesMaster" Target="/ppt/notesMasters/notesMaster1.xml" Id="Rb76e9cc913884e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61bf68248147bc" /><Relationship Type="http://schemas.openxmlformats.org/officeDocument/2006/relationships/notesMaster" Target="/ppt/notesMasters/notesMaster1.xml" Id="Rcfea5e84f31e42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Rebuilt from the supplied English PDF, preserving its main product claim and technical narrative. Ploby bounds AI-assisted purchase requests under bilateral project terms and records each outcome. TestKRW demonstration; no real funds. Team details are replaceable on the final slide. Repository: https://github.com/hyunhomon/ploby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customer hypothesis, not validated traction: small web/design agencies that buy domains, hosting, software and image licenses for client projects. The sample Cafe Ondam project illustrates this workflow; it is not a customer claim. No market-size estimate or customer revenue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project pd4466e964c56. Live Kiln qwen3-32b planning call: 1,495 tokens, $0.00014 displayed rounded, 3.14 s. The quote readers replayed previously recorded responses. The model proposed an ordered plan. The deterministic engine blocked the 40-image offer at KRW 203,500 including VAT; the agent then tried and reserved the 10-image offer at KRW 55,000. An off-list keyboard vendor was also blocked. Full plan, generation ID, usage and requests are in evidence/projects/pd4466e964c56/log.jsonl. Screenshot is from the actual application,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project p7ccf1ec48ac6 with the same vendor list and spending caps as the workflow project. Live Kiln plans: A1 keyboard, A2 40-image pack. Quote readings are cached and labeled separately in the logs. A1 requests E1 at log #9: BLOCK vendor; transaction 0x87f2d29aecb42a7501058382d7fa7e71e1d5c3d431bc255659ceb8d86c3705d4. A2 requests E2 at #12: BLOCK per_purchase; transaction 0xfed139854ff621adce522456a9a94f04c8e826787fd8b4995aa92197dfe56f1a. Neither request reserves or pays funds. 14 log entries, 2 original documents and 6 matching chain calls. See evidence/boundaries-audit.json and docs/submission.md.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escrow/agent.py, escrow/ai.py, escrow/expenses.py, escrow/wallet.py, escrow/core.py, src/PlobyEscrow.sol. EIP-712 mode is optional when all three party addresses are configured. It verifies user-wallet proofs in the off-chain engine and independent replay, binding project, role, operation, policy hash, budgets, parameters, previous log head, chain ID, escrow and expiry. Uses eth-account, not custom ECDSA. Contract currently trusts an operator for business-rule decisions; it does not verify these EIP-712 proofs or all 15 off-chain rules. Chain transactions in the demo use test relayer/funding keys. EIP-712 specification: https://eips.ethereum.org/EIPS/eip-712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evidence/submission-audit.json and evidence/projects/pd4466e964c56/log.jsonl. Independent run executed verify.py from an exported ZIP using public RPC, outside the Ploby API. 31 lines replay, 5 original hashes match, 13 contract calls match their expected events, 1 completed expense payment for KRW 24,200, 4 stopped requests. Settle transaction: https://testnet.monadvision.com/tx/0x25209465868c777c2d9a74d99ed9e5b17158a2f8959480d58b85c44484bf3e9d . Ledger: funded 4,500,000; reserved 4,055,000; paid 24,200; available 420,800. Uses TestKRW units. Overall verifier result is incomplete (demo_authorization), not fully verified. Demo HMAC keys cannot prove a person approved. Uploaded E1 document hashes establish retained content, not vendor authenticity. Live chain balances can change after snapshot. Demo engine clock was advanced by three days; chain timestamps use the real testnet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python3 harness/check.py; .venv/bin/python -m unittest harness.test_submission -v; python3 harness/fuzz.py; /Users/sunwoo/.foundry/bin/forge test; npm run build in frontend. 64 offline business checks, 8 added regression checks, 200 randomized Python engine scenarios, 12 current PlobyEscrow and 15 legacy ExpenseEscrow Solidity tests. This is bounded regression evidence, not a full security audit or a proof about all documents. Paused duplicate-document rerun now stops after its first blocked request even when allocation is the primary failed rule. Existing adversarial sample results are not presented as evidence of general resistance.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evidence/benchmark.json, generated by harness/benchmark_submission.py. Eight declared demo documents, a fresh project for each, the same fixed policy/date. Cold means no local response cache; provider prefix caching may still apply. Warm immediately replays identical requests. All eight expected APPROVE/BLOCK/HOLD results match in each arm, false approvals 0/8. Cold totals: 5,067 prompt tokens, 986 completion tokens, $0.00052472 billed, median 2.298916 s. Warm: zero inference API requests, zero newly sent tokens/cost, median 0.00135698 s. This is an application regression corpus, not held-out accuracy or an end-to-end speed benchmark. Accelerator-only energy estimate 0.09247–1.67890 Wh for cold requests, based on explicit 4-card RNGD Qwen3 assumptions in docs/efficiency.md; no Kiln power telemetry. Warm has zero incremental remote inference, not zero total system 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positioning is an analysis of documented capabilities, not an exhaustive superiority claim. Primary sources accessed 2026-09-30: Stripe agentic commerce primer https://stripe.com/guides/agentic-commerce-primer (SPTs restrict seller, amount and time window); Coinbase Agentic Wallet https://docs.cdp.coinbase.com/agentic-wallet/mcp/mcp-tools/show-wallet-app (per-call and per-session spending limits); Safe https://docs.safe.global/home/ai-agent-quickstarts/agent-with-spending-limit and https://safe.global/teams (spending limits, roles and programmable policies). These products overlap with Ploby controls and can also become infrastructure partners. Initial customer and pricing are hypotheses, not validated traction. Proposed pilot: 3 agencies, 10 real projects, measure administrative time and reconciliation exceptions before testing $49 per active workspace/month. No TAM or revenue forecast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stages and exit criteria are proposals, not delivery commitments. The current prototype is not production custody infrastructure. Scope per phase follows identified trust gaps: direct human wallet execution and contract signature verification; reducing operator discretion; authenticated vendor evidence; independent security review, operational monitoring and failure recovery. Long-term vision is a reusable approval and evidence layer for project work across payment rails. Regulatory requirements and payment-provider arrangements must be evaluated before real-money launch; no compliance approval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a replaceable team introduction. All name, role and background fields on this slide are editable native text. Replace these slots with the actual team; remove or add members to match reality. No names, credentials, work history or customer claims have been invented. The demonstrated implementation scope is supported by the repository, but ownership must be assigned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7f555c6d6a40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6ab33968e34927" /><Relationship Type="http://schemas.openxmlformats.org/officeDocument/2006/relationships/slideLayout" Target="/ppt/slideLayouts/slideLayout1.xml" Id="R5e241dd92a4d42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241dd92a4d42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a7b93fab704e01" /><Relationship Type="http://schemas.openxmlformats.org/officeDocument/2006/relationships/notesSlide" Target="/ppt/notesSlides/notesSlide1.xml" Id="R2d100cba0dd241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a0b26bddbc4d6a" /><Relationship Type="http://schemas.openxmlformats.org/officeDocument/2006/relationships/notesSlide" Target="/ppt/notesSlides/notesSlide2.xml" Id="Re3dc2eaf7d8045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31d4a32eb84554" /><Relationship Type="http://schemas.openxmlformats.org/officeDocument/2006/relationships/image" Target="/ppt/media/image.png" Id="Rb0e49496172d48e2" /><Relationship Type="http://schemas.openxmlformats.org/officeDocument/2006/relationships/notesSlide" Target="/ppt/notesSlides/notesSlide3.xml" Id="Rc80cf2034e4345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c601294e8b42f4" /><Relationship Type="http://schemas.openxmlformats.org/officeDocument/2006/relationships/image" Target="/ppt/media/image2.png" Id="R1e857af1c12e4808" /><Relationship Type="http://schemas.openxmlformats.org/officeDocument/2006/relationships/image" Target="/ppt/media/image3.png" Id="R53b9607fcf534f57" /><Relationship Type="http://schemas.openxmlformats.org/officeDocument/2006/relationships/notesSlide" Target="/ppt/notesSlides/notesSlide4.xml" Id="R067cf383301940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74e7ae9b974887" /><Relationship Type="http://schemas.openxmlformats.org/officeDocument/2006/relationships/notesSlide" Target="/ppt/notesSlides/notesSlide5.xml" Id="R9aac4cff2fc84f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9fabbb40d34177" /><Relationship Type="http://schemas.openxmlformats.org/officeDocument/2006/relationships/image" Target="/ppt/media/image4.png" Id="Rcbabb3e180274643" /><Relationship Type="http://schemas.openxmlformats.org/officeDocument/2006/relationships/notesSlide" Target="/ppt/notesSlides/notesSlide6.xml" Id="R754dadb2e75d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fabe62eda341de" /><Relationship Type="http://schemas.openxmlformats.org/officeDocument/2006/relationships/notesSlide" Target="/ppt/notesSlides/notesSlide7.xml" Id="Rad93fa1811b7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5b67b6a61446ec" /><Relationship Type="http://schemas.openxmlformats.org/officeDocument/2006/relationships/notesSlide" Target="/ppt/notesSlides/notesSlide8.xml" Id="R5821139aabfe4f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b6d43bc9754f0d" /><Relationship Type="http://schemas.openxmlformats.org/officeDocument/2006/relationships/notesSlide" Target="/ppt/notesSlides/notesSlide9.xml" Id="R8f3f85cbe5984e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b2b608604e489e" /><Relationship Type="http://schemas.openxmlformats.org/officeDocument/2006/relationships/notesSlide" Target="/ppt/notesSlides/notesSlide10.xml" Id="R7f81dc040f8543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1b41f536bd4e67" /><Relationship Type="http://schemas.openxmlformats.org/officeDocument/2006/relationships/notesSlide" Target="/ppt/notesSlides/notesSlide11.xml" Id="R5f09ce408bec4dbc" /></Relationships>
</file>

<file path=ppt/slides/slide1.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E09F99-CFF5-4399-A336-AC0F91DBA8E2}"/>
              </a:ext>
            </a:extLst>
          </p:cNvPr>
          <p:cNvSpPr>
            <a:spLocks xmlns:a="http://schemas.openxmlformats.org/drawingml/2006/main" noGrp="1"/>
          </p:cNvSpPr>
          <p:nvPr/>
        </p:nvSpPr>
        <p:spPr>
          <a:xfrm xmlns:a="http://schemas.openxmlformats.org/drawingml/2006/main">
            <a:off x="609600" y="857250"/>
            <a:ext cx="952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F6F5F1"/>
                </a:solidFill>
                <a:latin typeface="Helvetica Neue"/>
                <a:ea typeface="Helvetica Neue"/>
                <a:cs typeface="Helvetica Neue"/>
              </a:defRPr>
            </a:pPr>
            <a:r>
              <a:rPr sz="6300" b="1">
                <a:solidFill>
                  <a:srgbClr val="F6F5F1"/>
                </a:solidFill>
                <a:latin typeface="Helvetica Neue"/>
                <a:ea typeface="Helvetica Neue"/>
                <a:cs typeface="Helvetica Neue"/>
              </a:rPr>
              <a:t>Ploby</a:t>
            </a:r>
          </a:p>
        </p:txBody>
      </p:sp>
      <p:sp>
        <p:nvSpPr>
          <p:cNvPr id="2" name="">
            <a:extLst xmlns:a="http://schemas.openxmlformats.org/drawingml/2006/main">
              <a:ext uri="{FF2B5EF4-FFF2-40B4-BE49-F238E27FC236}">
                <a16:creationId xmlns:a16="http://schemas.microsoft.com/office/drawing/2014/main" id="{45B34CAB-8AB2-4BC4-8EEC-04F55304F52A}"/>
              </a:ext>
            </a:extLst>
          </p:cNvPr>
          <p:cNvSpPr>
            <a:spLocks xmlns:a="http://schemas.openxmlformats.org/drawingml/2006/main" noGrp="1"/>
          </p:cNvSpPr>
          <p:nvPr/>
        </p:nvSpPr>
        <p:spPr>
          <a:xfrm xmlns:a="http://schemas.openxmlformats.org/drawingml/2006/main">
            <a:off x="609600" y="2809875"/>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5F1"/>
                </a:solidFill>
                <a:latin typeface="Helvetica Neue"/>
                <a:ea typeface="Helvetica Neue"/>
                <a:cs typeface="Helvetica Neue"/>
              </a:defRPr>
            </a:pPr>
            <a:r>
              <a:rPr sz="3525" b="1">
                <a:solidFill>
                  <a:srgbClr val="F6F5F1"/>
                </a:solidFill>
                <a:latin typeface="Helvetica Neue"/>
                <a:ea typeface="Helvetica Neue"/>
                <a:cs typeface="Helvetica Neue"/>
              </a:rPr>
              <a:t>We draw the line an AI purchasing agent</a:t>
            </a:r>
          </a:p>
          <a:p xmlns:a="http://schemas.openxmlformats.org/drawingml/2006/main">
            <a:pPr>
              <a:defRPr sz="3525" b="1">
                <a:solidFill>
                  <a:srgbClr val="F6F5F1"/>
                </a:solidFill>
                <a:latin typeface="Helvetica Neue"/>
                <a:ea typeface="Helvetica Neue"/>
                <a:cs typeface="Helvetica Neue"/>
              </a:defRPr>
            </a:pPr>
            <a:r>
              <a:rPr sz="3525" b="1">
                <a:solidFill>
                  <a:srgbClr val="F6F5F1"/>
                </a:solidFill>
                <a:latin typeface="Helvetica Neue"/>
                <a:ea typeface="Helvetica Neue"/>
                <a:cs typeface="Helvetica Neue"/>
              </a:rPr>
              <a:t>spends inside, and we record every stop.</a:t>
            </a:r>
          </a:p>
        </p:txBody>
      </p:sp>
      <p:sp>
        <p:nvSpPr>
          <p:cNvPr id="3" name="">
            <a:extLst xmlns:a="http://schemas.openxmlformats.org/drawingml/2006/main">
              <a:ext uri="{FF2B5EF4-FFF2-40B4-BE49-F238E27FC236}">
                <a16:creationId xmlns:a16="http://schemas.microsoft.com/office/drawing/2014/main" id="{83CACE64-C895-454D-8BE8-88D956B037D1}"/>
              </a:ext>
            </a:extLst>
          </p:cNvPr>
          <p:cNvSpPr>
            <a:spLocks xmlns:a="http://schemas.openxmlformats.org/drawingml/2006/main" noGrp="1"/>
          </p:cNvSpPr>
          <p:nvPr/>
        </p:nvSpPr>
        <p:spPr>
          <a:xfrm xmlns:a="http://schemas.openxmlformats.org/drawingml/2006/main">
            <a:off x="647700" y="5057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7C7C7"/>
                </a:solidFill>
                <a:latin typeface="Helvetica Neue"/>
                <a:ea typeface="Helvetica Neue"/>
                <a:cs typeface="Helvetica Neue"/>
              </a:defRPr>
            </a:pPr>
            <a:r>
              <a:rPr sz="2100" b="0">
                <a:solidFill>
                  <a:srgbClr val="C7C7C7"/>
                </a:solidFill>
                <a:latin typeface="Helvetica Neue"/>
                <a:ea typeface="Helvetica Neue"/>
                <a:cs typeface="Helvetica Neue"/>
              </a:rPr>
              <a:t>Client-funded project expenses · Monad testnet</a:t>
            </a:r>
          </a:p>
        </p:txBody>
      </p:sp>
      <p:sp>
        <p:nvSpPr>
          <p:cNvPr id="4" name="">
            <a:extLst xmlns:a="http://schemas.openxmlformats.org/drawingml/2006/main">
              <a:ext uri="{FF2B5EF4-FFF2-40B4-BE49-F238E27FC236}">
                <a16:creationId xmlns:a16="http://schemas.microsoft.com/office/drawing/2014/main" id="{02D7601D-3012-486B-AF31-AAEEA0252A9F}"/>
              </a:ext>
            </a:extLst>
          </p:cNvPr>
          <p:cNvSpPr>
            <a:spLocks xmlns:a="http://schemas.openxmlformats.org/drawingml/2006/main" noGrp="1"/>
          </p:cNvSpPr>
          <p:nvPr/>
        </p:nvSpPr>
        <p:spPr>
          <a:xfrm xmlns:a="http://schemas.openxmlformats.org/drawingml/2006/main">
            <a:off x="647700" y="61817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B8B8"/>
                </a:solidFill>
                <a:latin typeface="Helvetica Neue"/>
                <a:ea typeface="Helvetica Neue"/>
                <a:cs typeface="Helvetica Neue"/>
              </a:defRPr>
            </a:pPr>
            <a:r>
              <a:rPr sz="1425" b="0">
                <a:solidFill>
                  <a:srgbClr val="B8B8B8"/>
                </a:solidFill>
                <a:latin typeface="Helvetica Neue"/>
                <a:ea typeface="Helvetica Neue"/>
                <a:cs typeface="Helvetica Neue"/>
              </a:rPr>
              <a:t>GWDC 2026 · Challenge B  /  [Team name]</a:t>
            </a:r>
          </a:p>
        </p:txBody>
      </p:sp>
    </p:spTree>
    <p:extLst>
      <p:ext uri="{BB962C8B-B14F-4D97-AF65-F5344CB8AC3E}">
        <p14:creationId xmlns:p14="http://schemas.microsoft.com/office/powerpoint/2010/main" val="1087569522"/>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9CC7CD-0713-4E13-A768-EF8A6F233E94}"/>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Problem and initial customer hypothesis</a:t>
            </a:r>
          </a:p>
        </p:txBody>
      </p:sp>
      <p:sp>
        <p:nvSpPr>
          <p:cNvPr id="2" name="">
            <a:extLst xmlns:a="http://schemas.openxmlformats.org/drawingml/2006/main">
              <a:ext uri="{FF2B5EF4-FFF2-40B4-BE49-F238E27FC236}">
                <a16:creationId xmlns:a16="http://schemas.microsoft.com/office/drawing/2014/main" id="{26C8E9D1-F8BF-4241-9B30-E6A64DBB92AE}"/>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3328EA5A-7487-4229-9756-B25EE1DE34E5}"/>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AB2457E-9B64-4E59-9AE4-D3A17913F34F}"/>
              </a:ext>
            </a:extLst>
          </p:cNvPr>
          <p:cNvSpPr>
            <a:spLocks xmlns:a="http://schemas.openxmlformats.org/drawingml/2006/main" noGrp="1"/>
          </p:cNvSpPr>
          <p:nvPr/>
        </p:nvSpPr>
        <p:spPr>
          <a:xfrm xmlns:a="http://schemas.openxmlformats.org/drawingml/2006/main">
            <a:off x="609600" y="16764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Shared spending decisions</a:t>
            </a:r>
          </a:p>
        </p:txBody>
      </p:sp>
      <p:sp>
        <p:nvSpPr>
          <p:cNvPr id="5" name="">
            <a:extLst xmlns:a="http://schemas.openxmlformats.org/drawingml/2006/main">
              <a:ext uri="{FF2B5EF4-FFF2-40B4-BE49-F238E27FC236}">
                <a16:creationId xmlns:a16="http://schemas.microsoft.com/office/drawing/2014/main" id="{1B8ED745-8333-4FA0-B4CF-9CA613D6819B}"/>
              </a:ext>
            </a:extLst>
          </p:cNvPr>
          <p:cNvSpPr>
            <a:spLocks xmlns:a="http://schemas.openxmlformats.org/drawingml/2006/main" noGrp="1"/>
          </p:cNvSpPr>
          <p:nvPr/>
        </p:nvSpPr>
        <p:spPr>
          <a:xfrm xmlns:a="http://schemas.openxmlformats.org/drawingml/2006/main">
            <a:off x="609600" y="2838450"/>
            <a:ext cx="5238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Agencies buy domains, hosting and design tools. The client needs an agreed spending scope and evidence for reimbursement.</a:t>
            </a:r>
          </a:p>
        </p:txBody>
      </p:sp>
      <p:sp>
        <p:nvSpPr>
          <p:cNvPr id="6" name="">
            <a:extLst xmlns:a="http://schemas.openxmlformats.org/drawingml/2006/main">
              <a:ext uri="{FF2B5EF4-FFF2-40B4-BE49-F238E27FC236}">
                <a16:creationId xmlns:a16="http://schemas.microsoft.com/office/drawing/2014/main" id="{373AE253-8D9C-48E3-BB93-46F8B090ACE9}"/>
              </a:ext>
            </a:extLst>
          </p:cNvPr>
          <p:cNvSpPr>
            <a:spLocks xmlns:a="http://schemas.openxmlformats.org/drawingml/2006/main" noGrp="1"/>
          </p:cNvSpPr>
          <p:nvPr/>
        </p:nvSpPr>
        <p:spPr>
          <a:xfrm xmlns:a="http://schemas.openxmlformats.org/drawingml/2006/main">
            <a:off x="609600" y="48006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Ploby applies the agreement to each request and keeps a record that explains each payment.</a:t>
            </a:r>
          </a:p>
        </p:txBody>
      </p:sp>
      <p:sp>
        <p:nvSpPr>
          <p:cNvPr id="7" name="">
            <a:extLst xmlns:a="http://schemas.openxmlformats.org/drawingml/2006/main">
              <a:ext uri="{FF2B5EF4-FFF2-40B4-BE49-F238E27FC236}">
                <a16:creationId xmlns:a16="http://schemas.microsoft.com/office/drawing/2014/main" id="{EBD3DF23-6CA3-4FC6-8D81-D57EB7EEF423}"/>
              </a:ext>
            </a:extLst>
          </p:cNvPr>
          <p:cNvSpPr>
            <a:spLocks xmlns:a="http://schemas.openxmlformats.org/drawingml/2006/main" noGrp="1"/>
          </p:cNvSpPr>
          <p:nvPr/>
        </p:nvSpPr>
        <p:spPr>
          <a:xfrm xmlns:a="http://schemas.openxmlformats.org/drawingml/2006/main">
            <a:off x="6648450" y="17240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020"/>
                </a:solidFill>
                <a:latin typeface="Helvetica Neue"/>
                <a:ea typeface="Helvetica Neue"/>
                <a:cs typeface="Helvetica Neue"/>
              </a:defRPr>
            </a:pPr>
            <a:r>
              <a:rPr sz="2175" b="1">
                <a:solidFill>
                  <a:srgbClr val="202020"/>
                </a:solidFill>
                <a:latin typeface="Helvetica Neue"/>
                <a:ea typeface="Helvetica Neue"/>
                <a:cs typeface="Helvetica Neue"/>
              </a:rPr>
              <a:t>A project expense, end to end</a:t>
            </a:r>
          </a:p>
        </p:txBody>
      </p:sp>
      <p:sp>
        <p:nvSpPr>
          <p:cNvPr id="8" name="">
            <a:extLst xmlns:a="http://schemas.openxmlformats.org/drawingml/2006/main">
              <a:ext uri="{FF2B5EF4-FFF2-40B4-BE49-F238E27FC236}">
                <a16:creationId xmlns:a16="http://schemas.microsoft.com/office/drawing/2014/main" id="{2CEBE859-71F5-4BE6-A7D5-4E7D9591A3D3}"/>
              </a:ext>
            </a:extLst>
          </p:cNvPr>
          <p:cNvSpPr>
            <a:spLocks xmlns:a="http://schemas.openxmlformats.org/drawingml/2006/main" noGrp="1"/>
          </p:cNvSpPr>
          <p:nvPr/>
        </p:nvSpPr>
        <p:spPr>
          <a:xfrm xmlns:a="http://schemas.openxmlformats.org/drawingml/2006/main">
            <a:off x="6648450" y="2419350"/>
            <a:ext cx="4857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01  Agree on vendors and a spending cap</a:t>
            </a:r>
          </a:p>
          <a:p xmlns:a="http://schemas.openxmlformats.org/drawingml/2006/main">
            <a:r>
              <a:t/>
            </a:r>
          </a:p>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02  Reserve an allowed purchase</a:t>
            </a:r>
          </a:p>
          <a:p xmlns:a="http://schemas.openxmlformats.org/drawingml/2006/main">
            <a:r>
              <a:t/>
            </a:r>
          </a:p>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03  Submit and review the receipt</a:t>
            </a:r>
          </a:p>
          <a:p xmlns:a="http://schemas.openxmlformats.org/drawingml/2006/main">
            <a:r>
              <a:t/>
            </a:r>
          </a:p>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04  Settle and export the evidence</a:t>
            </a:r>
          </a:p>
        </p:txBody>
      </p:sp>
    </p:spTree>
    <p:extLst>
      <p:ext uri="{BB962C8B-B14F-4D97-AF65-F5344CB8AC3E}">
        <p14:creationId xmlns:p14="http://schemas.microsoft.com/office/powerpoint/2010/main" val="1119859494"/>
      </p:ext>
    </p:extLst>
  </p:cSld>
</p:sld>
</file>

<file path=ppt/slides/slide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E96D55-F473-45A9-A7BC-32419C99E2B5}"/>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The agent adapts to a policy result</a:t>
            </a:r>
          </a:p>
        </p:txBody>
      </p:sp>
      <p:sp>
        <p:nvSpPr>
          <p:cNvPr id="2" name="">
            <a:extLst xmlns:a="http://schemas.openxmlformats.org/drawingml/2006/main">
              <a:ext uri="{FF2B5EF4-FFF2-40B4-BE49-F238E27FC236}">
                <a16:creationId xmlns:a16="http://schemas.microsoft.com/office/drawing/2014/main" id="{2A15B08D-CC2B-4EDE-885D-A40BF12C0EFD}"/>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773D9CE8-C32B-41DB-8B6F-AE0AC85A5776}"/>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0e49496172d48e2"/>
          <a:stretch xmlns:a="http://schemas.openxmlformats.org/drawingml/2006/main"/>
        </p:blipFill>
        <p:spPr>
          <a:xfrm xmlns:a="http://schemas.openxmlformats.org/drawingml/2006/main">
            <a:off x="609600" y="1981514"/>
            <a:ext cx="7239000" cy="333312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1B6C6E5-3F09-4F3E-86FB-350502E2DAE2}"/>
              </a:ext>
            </a:extLst>
          </p:cNvPr>
          <p:cNvSpPr>
            <a:spLocks xmlns:a="http://schemas.openxmlformats.org/drawingml/2006/main" noGrp="1"/>
          </p:cNvSpPr>
          <p:nvPr/>
        </p:nvSpPr>
        <p:spPr>
          <a:xfrm xmlns:a="http://schemas.openxmlformats.org/drawingml/2006/main">
            <a:off x="8305800" y="17621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40 images: ₩203,500</a:t>
            </a:r>
          </a:p>
        </p:txBody>
      </p:sp>
      <p:sp>
        <p:nvSpPr>
          <p:cNvPr id="6" name="">
            <a:extLst xmlns:a="http://schemas.openxmlformats.org/drawingml/2006/main">
              <a:ext uri="{FF2B5EF4-FFF2-40B4-BE49-F238E27FC236}">
                <a16:creationId xmlns:a16="http://schemas.microsoft.com/office/drawing/2014/main" id="{FEEF192E-026F-4BDB-8C82-58ED528C1CCC}"/>
              </a:ext>
            </a:extLst>
          </p:cNvPr>
          <p:cNvSpPr>
            <a:spLocks xmlns:a="http://schemas.openxmlformats.org/drawingml/2006/main" noGrp="1"/>
          </p:cNvSpPr>
          <p:nvPr/>
        </p:nvSpPr>
        <p:spPr>
          <a:xfrm xmlns:a="http://schemas.openxmlformats.org/drawingml/2006/main">
            <a:off x="8305800" y="2314575"/>
            <a:ext cx="31813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BLOCK</a:t>
            </a:r>
          </a:p>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The total exceeds the</a:t>
            </a:r>
          </a:p>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₩200,000 purchase cap.</a:t>
            </a:r>
          </a:p>
        </p:txBody>
      </p:sp>
      <p:sp>
        <p:nvSpPr>
          <p:cNvPr id="7" name="">
            <a:extLst xmlns:a="http://schemas.openxmlformats.org/drawingml/2006/main">
              <a:ext uri="{FF2B5EF4-FFF2-40B4-BE49-F238E27FC236}">
                <a16:creationId xmlns:a16="http://schemas.microsoft.com/office/drawing/2014/main" id="{CFE4327C-9E1C-44D7-96C8-918CF3BA8E3F}"/>
              </a:ext>
            </a:extLst>
          </p:cNvPr>
          <p:cNvSpPr>
            <a:spLocks xmlns:a="http://schemas.openxmlformats.org/drawingml/2006/main" noGrp="1"/>
          </p:cNvSpPr>
          <p:nvPr/>
        </p:nvSpPr>
        <p:spPr>
          <a:xfrm xmlns:a="http://schemas.openxmlformats.org/drawingml/2006/main">
            <a:off x="8305800" y="38100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10 images: ₩55,000</a:t>
            </a:r>
          </a:p>
        </p:txBody>
      </p:sp>
      <p:sp>
        <p:nvSpPr>
          <p:cNvPr id="8" name="">
            <a:extLst xmlns:a="http://schemas.openxmlformats.org/drawingml/2006/main">
              <a:ext uri="{FF2B5EF4-FFF2-40B4-BE49-F238E27FC236}">
                <a16:creationId xmlns:a16="http://schemas.microsoft.com/office/drawing/2014/main" id="{9C2DB55B-F181-4C15-A917-AB0CE6C64E7D}"/>
              </a:ext>
            </a:extLst>
          </p:cNvPr>
          <p:cNvSpPr>
            <a:spLocks xmlns:a="http://schemas.openxmlformats.org/drawingml/2006/main" noGrp="1"/>
          </p:cNvSpPr>
          <p:nvPr/>
        </p:nvSpPr>
        <p:spPr>
          <a:xfrm xmlns:a="http://schemas.openxmlformats.org/drawingml/2006/main">
            <a:off x="8305800" y="4362450"/>
            <a:ext cx="31813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APPROVE</a:t>
            </a:r>
          </a:p>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The agent tries its next</a:t>
            </a:r>
          </a:p>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planned offer and reserves it.</a:t>
            </a:r>
          </a:p>
        </p:txBody>
      </p:sp>
    </p:spTree>
    <p:extLst>
      <p:ext uri="{BB962C8B-B14F-4D97-AF65-F5344CB8AC3E}">
        <p14:creationId xmlns:p14="http://schemas.microsoft.com/office/powerpoint/2010/main" val="1353429668"/>
      </p:ext>
    </p:extLst>
  </p:cSld>
</p:sld>
</file>

<file path=ppt/slides/slide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396B11-FF2A-442B-8084-E7C5B770033F}"/>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Two separate runs, two recorded stops</a:t>
            </a:r>
          </a:p>
        </p:txBody>
      </p:sp>
      <p:sp>
        <p:nvSpPr>
          <p:cNvPr id="2" name="">
            <a:extLst xmlns:a="http://schemas.openxmlformats.org/drawingml/2006/main">
              <a:ext uri="{FF2B5EF4-FFF2-40B4-BE49-F238E27FC236}">
                <a16:creationId xmlns:a16="http://schemas.microsoft.com/office/drawing/2014/main" id="{4BF28F6F-3C2B-4F14-B249-AA8ABBEA278E}"/>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A4B23BFF-C9D8-4ABA-9D1E-11401896C434}"/>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9AC41B38-C3B0-4748-9579-6143E723CEBF}"/>
              </a:ext>
            </a:extLst>
          </p:cNvPr>
          <p:cNvSpPr>
            <a:spLocks xmlns:a="http://schemas.openxmlformats.org/drawingml/2006/main" noGrp="1"/>
          </p:cNvSpPr>
          <p:nvPr/>
        </p:nvSpPr>
        <p:spPr>
          <a:xfrm xmlns:a="http://schemas.openxmlformats.org/drawingml/2006/main">
            <a:off x="609600" y="15049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Run A1  /  Vendor outside the agreed list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e857af1c12e4808"/>
          <a:stretch xmlns:a="http://schemas.openxmlformats.org/drawingml/2006/main"/>
        </p:blipFill>
        <p:spPr>
          <a:xfrm xmlns:a="http://schemas.openxmlformats.org/drawingml/2006/main">
            <a:off x="3208380" y="2009775"/>
            <a:ext cx="5756189" cy="1638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066F43-D3BC-4A64-B8A8-29D1E07B2BF3}"/>
              </a:ext>
            </a:extLst>
          </p:cNvPr>
          <p:cNvSpPr>
            <a:spLocks xmlns:a="http://schemas.openxmlformats.org/drawingml/2006/main" noGrp="1"/>
          </p:cNvSpPr>
          <p:nvPr/>
        </p:nvSpPr>
        <p:spPr>
          <a:xfrm xmlns:a="http://schemas.openxmlformats.org/drawingml/2006/main">
            <a:off x="609600" y="39814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Run A2  /  Total exceeds the ₩200,000 cap</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3b9607fcf534f57"/>
          <a:stretch xmlns:a="http://schemas.openxmlformats.org/drawingml/2006/main"/>
        </p:blipFill>
        <p:spPr>
          <a:xfrm xmlns:a="http://schemas.openxmlformats.org/drawingml/2006/main">
            <a:off x="3452459" y="4495800"/>
            <a:ext cx="5268032" cy="1638300"/>
          </a:xfrm>
          <a:prstGeom xmlns:a="http://schemas.openxmlformats.org/drawingml/2006/main" prst="rect">
            <a:avLst/>
          </a:prstGeom>
        </p:spPr>
      </p:pic>
    </p:spTree>
    <p:extLst>
      <p:ext uri="{BB962C8B-B14F-4D97-AF65-F5344CB8AC3E}">
        <p14:creationId xmlns:p14="http://schemas.microsoft.com/office/powerpoint/2010/main" val="253230649"/>
      </p:ext>
    </p:extLst>
  </p:cSld>
</p:sld>
</file>

<file path=ppt/slides/slide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DD6B94-F1C0-471C-9750-9E3A7A0D5807}"/>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Control boundaries and wallet approvals</a:t>
            </a:r>
          </a:p>
        </p:txBody>
      </p:sp>
      <p:sp>
        <p:nvSpPr>
          <p:cNvPr id="2" name="">
            <a:extLst xmlns:a="http://schemas.openxmlformats.org/drawingml/2006/main">
              <a:ext uri="{FF2B5EF4-FFF2-40B4-BE49-F238E27FC236}">
                <a16:creationId xmlns:a16="http://schemas.microsoft.com/office/drawing/2014/main" id="{8E1F6731-43F7-4C74-81BE-A8C712C6E317}"/>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7CF9134A-FCF0-483A-BCD9-87F26D137120}"/>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05</a:t>
            </a:r>
          </a:p>
        </p:txBody>
      </p:sp>
      <p:graphicFrame>
        <p:nvGraphicFramePr>
          <p:cNvPr id="10" name=""/>
          <p:cNvGraphicFramePr/>
          <p:nvPr/>
        </p:nvGraphicFramePr>
        <p:xfrm>
          <a:off xmlns:a="http://schemas.openxmlformats.org/drawingml/2006/main" x="609600" y="1590675"/>
          <a:ext xmlns:a="http://schemas.openxmlformats.org/drawingml/2006/main" cx="10972800" cy="3124200"/>
        </p:xfrm>
        <a:graphic xmlns:a="http://schemas.openxmlformats.org/drawingml/2006/main">
          <a:graphicData uri="http://schemas.openxmlformats.org/drawingml/2006/table">
            <a:tbl>
              <a:tblPr/>
              <a:tblGrid>
                <a:gridCol w="2667000"/>
                <a:gridCol w="8305800"/>
              </a:tblGrid>
              <a:tr h="781050">
                <a:tc>
                  <a:txBody>
                    <a:bodyPr/>
                    <a:lstStyle/>
                    <a:p>
                      <a:r>
                        <a:rPr sz="1725" b="1">
                          <a:solidFill>
                            <a:srgbClr val="202020"/>
                          </a:solidFill>
                          <a:latin typeface="Helvetica Neue"/>
                          <a:ea typeface="Helvetica Neue"/>
                          <a:cs typeface="Helvetica Neue"/>
                        </a:rPr>
                        <a:t>Layer</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Responsibility</a:t>
                      </a:r>
                    </a:p>
                  </a:txBody>
                  <a:tcPr marL="133350" marR="133350" marT="114300" marB="114300" anchor="ctr">
                    <a:solidFill>
                      <a:srgbClr val="EAEAE6"/>
                    </a:solidFill>
                  </a:tcPr>
                </a:tc>
              </a:tr>
              <a:tr h="781050">
                <a:tc>
                  <a:txBody>
                    <a:bodyPr/>
                    <a:lstStyle/>
                    <a:p>
                      <a:r>
                        <a:rPr sz="1725">
                          <a:solidFill>
                            <a:srgbClr val="202020"/>
                          </a:solidFill>
                          <a:latin typeface="Helvetica Neue"/>
                          <a:ea typeface="Helvetica Neue"/>
                          <a:cs typeface="Helvetica Neue"/>
                        </a:rPr>
                        <a:t>Kiln · qwen3-32b</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Plans offers and extracts document fields.</a:t>
                      </a:r>
                    </a:p>
                    <a:p>
                      <a:r>
                        <a:rPr sz="1725">
                          <a:solidFill>
                            <a:srgbClr val="202020"/>
                          </a:solidFill>
                          <a:latin typeface="Helvetica Neue"/>
                          <a:ea typeface="Helvetica Neue"/>
                          <a:cs typeface="Helvetica Neue"/>
                        </a:rPr>
                        <a:t>No private key or payee field in the model output.</a:t>
                      </a:r>
                    </a:p>
                  </a:txBody>
                  <a:tcPr marL="133350" marR="133350" marT="114300" marB="114300" anchor="ctr">
                    <a:solidFill>
                      <a:srgbClr val="F6F5F1"/>
                    </a:solidFill>
                  </a:tcPr>
                </a:tc>
              </a:tr>
              <a:tr h="781050">
                <a:tc>
                  <a:txBody>
                    <a:bodyPr/>
                    <a:lstStyle/>
                    <a:p>
                      <a:r>
                        <a:rPr sz="1725">
                          <a:solidFill>
                            <a:srgbClr val="202020"/>
                          </a:solidFill>
                          <a:latin typeface="Helvetica Neue"/>
                          <a:ea typeface="Helvetica Neue"/>
                          <a:cs typeface="Helvetica Neue"/>
                        </a:rPr>
                        <a:t>Policy engine</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Applies 15 checks to each request.</a:t>
                      </a:r>
                    </a:p>
                    <a:p>
                      <a:r>
                        <a:rPr sz="1725">
                          <a:solidFill>
                            <a:srgbClr val="202020"/>
                          </a:solidFill>
                          <a:latin typeface="Helvetica Neue"/>
                          <a:ea typeface="Helvetica Neue"/>
                          <a:cs typeface="Helvetica Neue"/>
                        </a:rPr>
                        <a:t>Keeps the same inputs for independent replay.</a:t>
                      </a:r>
                    </a:p>
                  </a:txBody>
                  <a:tcPr marL="133350" marR="133350" marT="114300" marB="114300" anchor="ctr">
                    <a:solidFill>
                      <a:srgbClr val="F6F5F1"/>
                    </a:solidFill>
                  </a:tcPr>
                </a:tc>
              </a:tr>
              <a:tr h="781050">
                <a:tc>
                  <a:txBody>
                    <a:bodyPr/>
                    <a:lstStyle/>
                    <a:p>
                      <a:r>
                        <a:rPr sz="1725">
                          <a:solidFill>
                            <a:srgbClr val="202020"/>
                          </a:solidFill>
                          <a:latin typeface="Helvetica Neue"/>
                          <a:ea typeface="Helvetica Neue"/>
                          <a:cs typeface="Helvetica Neue"/>
                        </a:rPr>
                        <a:t>Monad escrow</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Enforces funded balances, reservations, fixed payee</a:t>
                      </a:r>
                    </a:p>
                    <a:p>
                      <a:r>
                        <a:rPr sz="1725">
                          <a:solidFill>
                            <a:srgbClr val="202020"/>
                          </a:solidFill>
                          <a:latin typeface="Helvetica Neue"/>
                          <a:ea typeface="Helvetica Neue"/>
                          <a:cs typeface="Helvetica Neue"/>
                        </a:rPr>
                        <a:t>and pausing of new commitments.</a:t>
                      </a:r>
                    </a:p>
                  </a:txBody>
                  <a:tcPr marL="133350" marR="133350" marT="114300" marB="114300" anchor="ctr">
                    <a:solidFill>
                      <a:srgbClr val="F6F5F1"/>
                    </a:solidFill>
                  </a:tcPr>
                </a:tc>
              </a:tr>
            </a:tbl>
          </a:graphicData>
        </a:graphic>
      </p:graphicFrame>
      <p:sp>
        <p:nvSpPr>
          <p:cNvPr id="5" name="">
            <a:extLst xmlns:a="http://schemas.openxmlformats.org/drawingml/2006/main">
              <a:ext uri="{FF2B5EF4-FFF2-40B4-BE49-F238E27FC236}">
                <a16:creationId xmlns:a16="http://schemas.microsoft.com/office/drawing/2014/main" id="{28123AA2-1079-4F34-BEA4-C746C37B5698}"/>
              </a:ext>
            </a:extLst>
          </p:cNvPr>
          <p:cNvSpPr>
            <a:spLocks xmlns:a="http://schemas.openxmlformats.org/drawingml/2006/main" noGrp="1"/>
          </p:cNvSpPr>
          <p:nvPr/>
        </p:nvSpPr>
        <p:spPr>
          <a:xfrm xmlns:a="http://schemas.openxmlformats.org/drawingml/2006/main">
            <a:off x="609600" y="50387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020"/>
                </a:solidFill>
                <a:latin typeface="Helvetica Neue"/>
                <a:ea typeface="Helvetica Neue"/>
                <a:cs typeface="Helvetica Neue"/>
              </a:defRPr>
            </a:pPr>
            <a:r>
              <a:rPr sz="2175" b="1">
                <a:solidFill>
                  <a:srgbClr val="202020"/>
                </a:solidFill>
                <a:latin typeface="Helvetica Neue"/>
                <a:ea typeface="Helvetica Neue"/>
                <a:cs typeface="Helvetica Neue"/>
              </a:rPr>
              <a:t>Optional wallet mode</a:t>
            </a:r>
          </a:p>
        </p:txBody>
      </p:sp>
      <p:sp>
        <p:nvSpPr>
          <p:cNvPr id="6" name="">
            <a:extLst xmlns:a="http://schemas.openxmlformats.org/drawingml/2006/main">
              <a:ext uri="{FF2B5EF4-FFF2-40B4-BE49-F238E27FC236}">
                <a16:creationId xmlns:a16="http://schemas.microsoft.com/office/drawing/2014/main" id="{65BB222B-47D0-405A-8649-21D12407F478}"/>
              </a:ext>
            </a:extLst>
          </p:cNvPr>
          <p:cNvSpPr>
            <a:spLocks xmlns:a="http://schemas.openxmlformats.org/drawingml/2006/main" noGrp="1"/>
          </p:cNvSpPr>
          <p:nvPr/>
        </p:nvSpPr>
        <p:spPr>
          <a:xfrm xmlns:a="http://schemas.openxmlformats.org/drawingml/2006/main">
            <a:off x="609600" y="55626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EIP-712 binds approval to the exact action and log head.</a:t>
            </a:r>
          </a:p>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The engine verifies it; the deployed contract still trusts its operator.</a:t>
            </a:r>
          </a:p>
        </p:txBody>
      </p:sp>
    </p:spTree>
    <p:extLst>
      <p:ext uri="{BB962C8B-B14F-4D97-AF65-F5344CB8AC3E}">
        <p14:creationId xmlns:p14="http://schemas.microsoft.com/office/powerpoint/2010/main" val="1787225193"/>
      </p:ext>
    </p:extLst>
  </p:cSld>
</p:sld>
</file>

<file path=ppt/slides/slide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5F5EB6-DBE6-4740-9BA9-650ADED0C4C7}"/>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A payment reconstructed from the records</a:t>
            </a:r>
          </a:p>
        </p:txBody>
      </p:sp>
      <p:sp>
        <p:nvSpPr>
          <p:cNvPr id="2" name="">
            <a:extLst xmlns:a="http://schemas.openxmlformats.org/drawingml/2006/main">
              <a:ext uri="{FF2B5EF4-FFF2-40B4-BE49-F238E27FC236}">
                <a16:creationId xmlns:a16="http://schemas.microsoft.com/office/drawing/2014/main" id="{71DCC79D-B328-4070-A1D0-E74F8DECCB22}"/>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F7155672-6F5A-4B55-8865-521A8C3C45FF}"/>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758E68E-9204-49A1-A38E-B330D4D25157}"/>
              </a:ext>
            </a:extLst>
          </p:cNvPr>
          <p:cNvSpPr>
            <a:spLocks xmlns:a="http://schemas.openxmlformats.org/drawingml/2006/main" noGrp="1"/>
          </p:cNvSpPr>
          <p:nvPr/>
        </p:nvSpPr>
        <p:spPr>
          <a:xfrm xmlns:a="http://schemas.openxmlformats.org/drawingml/2006/main">
            <a:off x="609600" y="158115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02020"/>
                </a:solidFill>
                <a:latin typeface="Helvetica Neue"/>
                <a:ea typeface="Helvetica Neue"/>
                <a:cs typeface="Helvetica Neue"/>
              </a:defRPr>
            </a:pPr>
            <a:r>
              <a:rPr sz="5400" b="1">
                <a:solidFill>
                  <a:srgbClr val="202020"/>
                </a:solidFill>
                <a:latin typeface="Helvetica Neue"/>
                <a:ea typeface="Helvetica Neue"/>
                <a:cs typeface="Helvetica Neue"/>
              </a:rPr>
              <a:t>₩24,200</a:t>
            </a:r>
          </a:p>
        </p:txBody>
      </p:sp>
      <p:sp>
        <p:nvSpPr>
          <p:cNvPr id="5" name="">
            <a:extLst xmlns:a="http://schemas.openxmlformats.org/drawingml/2006/main">
              <a:ext uri="{FF2B5EF4-FFF2-40B4-BE49-F238E27FC236}">
                <a16:creationId xmlns:a16="http://schemas.microsoft.com/office/drawing/2014/main" id="{382E6EBF-F3D0-423D-99A6-35CBA9D6E1FB}"/>
              </a:ext>
            </a:extLst>
          </p:cNvPr>
          <p:cNvSpPr>
            <a:spLocks xmlns:a="http://schemas.openxmlformats.org/drawingml/2006/main" noGrp="1"/>
          </p:cNvSpPr>
          <p:nvPr/>
        </p:nvSpPr>
        <p:spPr>
          <a:xfrm xmlns:a="http://schemas.openxmlformats.org/drawingml/2006/main">
            <a:off x="647700" y="26289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Helvetica Neue"/>
                <a:ea typeface="Helvetica Neue"/>
                <a:cs typeface="Helvetica Neue"/>
              </a:defRPr>
            </a:pPr>
            <a:r>
              <a:rPr sz="1875" b="0">
                <a:solidFill>
                  <a:srgbClr val="202020"/>
                </a:solidFill>
                <a:latin typeface="Helvetica Neue"/>
                <a:ea typeface="Helvetica Neue"/>
                <a:cs typeface="Helvetica Neue"/>
              </a:rPr>
              <a:t>TestKRW settled after receipt approval</a:t>
            </a:r>
          </a:p>
        </p:txBody>
      </p:sp>
      <p:sp>
        <p:nvSpPr>
          <p:cNvPr id="6" name="">
            <a:extLst xmlns:a="http://schemas.openxmlformats.org/drawingml/2006/main">
              <a:ext uri="{FF2B5EF4-FFF2-40B4-BE49-F238E27FC236}">
                <a16:creationId xmlns:a16="http://schemas.microsoft.com/office/drawing/2014/main" id="{090A4E72-1A8F-41BA-AE68-CB6DB765DF6A}"/>
              </a:ext>
            </a:extLst>
          </p:cNvPr>
          <p:cNvSpPr>
            <a:spLocks xmlns:a="http://schemas.openxmlformats.org/drawingml/2006/main" noGrp="1"/>
          </p:cNvSpPr>
          <p:nvPr/>
        </p:nvSpPr>
        <p:spPr>
          <a:xfrm xmlns:a="http://schemas.openxmlformats.org/drawingml/2006/main">
            <a:off x="647700" y="3352800"/>
            <a:ext cx="5524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31 log entries</a:t>
            </a:r>
          </a:p>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5 original documents</a:t>
            </a:r>
          </a:p>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13 matching chain calls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abb3e180274643"/>
          <a:stretch xmlns:a="http://schemas.openxmlformats.org/drawingml/2006/main"/>
        </p:blipFill>
        <p:spPr>
          <a:xfrm xmlns:a="http://schemas.openxmlformats.org/drawingml/2006/main">
            <a:off x="6381750" y="3355972"/>
            <a:ext cx="5219700" cy="139383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270C8A6-51F1-476D-941F-D503E2C60809}"/>
              </a:ext>
            </a:extLst>
          </p:cNvPr>
          <p:cNvSpPr>
            <a:spLocks xmlns:a="http://schemas.openxmlformats.org/drawingml/2006/main" noGrp="1"/>
          </p:cNvSpPr>
          <p:nvPr/>
        </p:nvSpPr>
        <p:spPr>
          <a:xfrm xmlns:a="http://schemas.openxmlformats.org/drawingml/2006/main">
            <a:off x="609600" y="5476875"/>
            <a:ext cx="1099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6565"/>
                </a:solidFill>
                <a:latin typeface="Helvetica Neue"/>
                <a:ea typeface="Helvetica Neue"/>
                <a:cs typeface="Helvetica Neue"/>
              </a:defRPr>
            </a:pPr>
            <a:r>
              <a:rPr sz="1725" b="0">
                <a:solidFill>
                  <a:srgbClr val="656565"/>
                </a:solidFill>
                <a:latin typeface="Helvetica Neue"/>
                <a:ea typeface="Helvetica Neue"/>
                <a:cs typeface="Helvetica Neue"/>
              </a:rPr>
              <a:t>Recorded demo: documents and chain match. Human approval uses demo signatures,</a:t>
            </a:r>
          </a:p>
          <a:p xmlns:a="http://schemas.openxmlformats.org/drawingml/2006/main">
            <a:pPr>
              <a:defRPr sz="1725" b="0">
                <a:solidFill>
                  <a:srgbClr val="656565"/>
                </a:solidFill>
                <a:latin typeface="Helvetica Neue"/>
                <a:ea typeface="Helvetica Neue"/>
                <a:cs typeface="Helvetica Neue"/>
              </a:defRPr>
            </a:pPr>
            <a:r>
              <a:rPr sz="1725" b="0">
                <a:solidFill>
                  <a:srgbClr val="656565"/>
                </a:solidFill>
                <a:latin typeface="Helvetica Neue"/>
                <a:ea typeface="Helvetica Neue"/>
                <a:cs typeface="Helvetica Neue"/>
              </a:rPr>
              <a:t>so the verifier reports partial verification. Wallet mode verifies real EIP-712 proofs.</a:t>
            </a:r>
          </a:p>
        </p:txBody>
      </p:sp>
    </p:spTree>
    <p:extLst>
      <p:ext uri="{BB962C8B-B14F-4D97-AF65-F5344CB8AC3E}">
        <p14:creationId xmlns:p14="http://schemas.microsoft.com/office/powerpoint/2010/main" val="1840039183"/>
      </p:ext>
    </p:extLst>
  </p:cSld>
</p:sld>
</file>

<file path=ppt/slides/slide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3B84D6-FBC6-4AE7-81B7-C438065045F5}"/>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Checks for decisions, state and money</a:t>
            </a:r>
          </a:p>
        </p:txBody>
      </p:sp>
      <p:sp>
        <p:nvSpPr>
          <p:cNvPr id="2" name="">
            <a:extLst xmlns:a="http://schemas.openxmlformats.org/drawingml/2006/main">
              <a:ext uri="{FF2B5EF4-FFF2-40B4-BE49-F238E27FC236}">
                <a16:creationId xmlns:a16="http://schemas.microsoft.com/office/drawing/2014/main" id="{23AA3002-5D0B-4EDF-B7F5-9CF8B0CF1109}"/>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C684F660-1755-4B67-8D49-82F42A295957}"/>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07</a:t>
            </a:r>
          </a:p>
        </p:txBody>
      </p:sp>
      <p:graphicFrame>
        <p:nvGraphicFramePr>
          <p:cNvPr id="10" name=""/>
          <p:cNvGraphicFramePr/>
          <p:nvPr/>
        </p:nvGraphicFramePr>
        <p:xfrm>
          <a:off xmlns:a="http://schemas.openxmlformats.org/drawingml/2006/main" x="609600" y="1609725"/>
          <a:ext xmlns:a="http://schemas.openxmlformats.org/drawingml/2006/main" cx="10972800" cy="3562350"/>
        </p:xfrm>
        <a:graphic xmlns:a="http://schemas.openxmlformats.org/drawingml/2006/main">
          <a:graphicData uri="http://schemas.openxmlformats.org/drawingml/2006/table">
            <a:tbl>
              <a:tblPr/>
              <a:tblGrid>
                <a:gridCol w="2514600"/>
                <a:gridCol w="5810250"/>
                <a:gridCol w="2647950"/>
              </a:tblGrid>
              <a:tr h="712470">
                <a:tc>
                  <a:txBody>
                    <a:bodyPr/>
                    <a:lstStyle/>
                    <a:p>
                      <a:r>
                        <a:rPr sz="1725" b="1">
                          <a:solidFill>
                            <a:srgbClr val="202020"/>
                          </a:solidFill>
                          <a:latin typeface="Helvetica Neue"/>
                          <a:ea typeface="Helvetica Neue"/>
                          <a:cs typeface="Helvetica Neue"/>
                        </a:rPr>
                        <a:t>Verification</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Coverage</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Observed result</a:t>
                      </a:r>
                    </a:p>
                  </a:txBody>
                  <a:tcPr marL="133350" marR="133350" marT="114300" marB="114300" anchor="ctr">
                    <a:solidFill>
                      <a:srgbClr val="EAEAE6"/>
                    </a:solidFill>
                  </a:tcPr>
                </a:tc>
              </a:tr>
              <a:tr h="712470">
                <a:tc>
                  <a:txBody>
                    <a:bodyPr/>
                    <a:lstStyle/>
                    <a:p>
                      <a:r>
                        <a:rPr sz="1725">
                          <a:solidFill>
                            <a:srgbClr val="202020"/>
                          </a:solidFill>
                          <a:latin typeface="Helvetica Neue"/>
                          <a:ea typeface="Helvetica Neue"/>
                          <a:cs typeface="Helvetica Neue"/>
                        </a:rPr>
                        <a:t>Business rules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Budgets, holds, deadlines, settlement</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64 checks passed</a:t>
                      </a:r>
                    </a:p>
                  </a:txBody>
                  <a:tcPr marL="133350" marR="133350" marT="114300" marB="114300" anchor="ctr">
                    <a:solidFill>
                      <a:srgbClr val="F6F5F1"/>
                    </a:solidFill>
                  </a:tcPr>
                </a:tc>
              </a:tr>
              <a:tr h="712470">
                <a:tc>
                  <a:txBody>
                    <a:bodyPr/>
                    <a:lstStyle/>
                    <a:p>
                      <a:r>
                        <a:rPr sz="1725">
                          <a:solidFill>
                            <a:srgbClr val="202020"/>
                          </a:solidFill>
                          <a:latin typeface="Helvetica Neue"/>
                          <a:ea typeface="Helvetica Neue"/>
                          <a:cs typeface="Helvetica Neue"/>
                        </a:rPr>
                        <a:t>New regressions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Evidence export, audit verdict,</a:t>
                      </a:r>
                    </a:p>
                    <a:p>
                      <a:r>
                        <a:rPr sz="1725">
                          <a:solidFill>
                            <a:srgbClr val="202020"/>
                          </a:solidFill>
                          <a:latin typeface="Helvetica Neue"/>
                          <a:ea typeface="Helvetica Neue"/>
                          <a:cs typeface="Helvetica Neue"/>
                        </a:rPr>
                        <a:t>wallet proofs, stopped-agent rerun</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8 checks passed</a:t>
                      </a:r>
                    </a:p>
                  </a:txBody>
                  <a:tcPr marL="133350" marR="133350" marT="114300" marB="114300" anchor="ctr">
                    <a:solidFill>
                      <a:srgbClr val="F6F5F1"/>
                    </a:solidFill>
                  </a:tcPr>
                </a:tc>
              </a:tr>
              <a:tr h="712470">
                <a:tc>
                  <a:txBody>
                    <a:bodyPr/>
                    <a:lstStyle/>
                    <a:p>
                      <a:r>
                        <a:rPr sz="1725">
                          <a:solidFill>
                            <a:srgbClr val="202020"/>
                          </a:solidFill>
                          <a:latin typeface="Helvetica Neue"/>
                          <a:ea typeface="Helvetica Neue"/>
                          <a:cs typeface="Helvetica Neue"/>
                        </a:rPr>
                        <a:t>Randomized engine runs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Conservation of funds and state</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200 scenarios passed</a:t>
                      </a:r>
                    </a:p>
                  </a:txBody>
                  <a:tcPr marL="133350" marR="133350" marT="114300" marB="114300" anchor="ctr">
                    <a:solidFill>
                      <a:srgbClr val="F6F5F1"/>
                    </a:solidFill>
                  </a:tcPr>
                </a:tc>
              </a:tr>
              <a:tr h="712470">
                <a:tc>
                  <a:txBody>
                    <a:bodyPr/>
                    <a:lstStyle/>
                    <a:p>
                      <a:r>
                        <a:rPr sz="1725">
                          <a:solidFill>
                            <a:srgbClr val="202020"/>
                          </a:solidFill>
                          <a:latin typeface="Helvetica Neue"/>
                          <a:ea typeface="Helvetica Neue"/>
                          <a:cs typeface="Helvetica Neue"/>
                        </a:rPr>
                        <a:t>Solidity contracts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Current escrow + legacy contract</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12 + 15 tests passed</a:t>
                      </a:r>
                    </a:p>
                  </a:txBody>
                  <a:tcPr marL="133350" marR="133350" marT="114300" marB="114300" anchor="ctr">
                    <a:solidFill>
                      <a:srgbClr val="F6F5F1"/>
                    </a:solidFill>
                  </a:tcPr>
                </a:tc>
              </a:tr>
            </a:tbl>
          </a:graphicData>
        </a:graphic>
      </p:graphicFrame>
      <p:sp>
        <p:nvSpPr>
          <p:cNvPr id="5" name="">
            <a:extLst xmlns:a="http://schemas.openxmlformats.org/drawingml/2006/main">
              <a:ext uri="{FF2B5EF4-FFF2-40B4-BE49-F238E27FC236}">
                <a16:creationId xmlns:a16="http://schemas.microsoft.com/office/drawing/2014/main" id="{DF03A1F9-F311-452B-9660-3F8D48295339}"/>
              </a:ext>
            </a:extLst>
          </p:cNvPr>
          <p:cNvSpPr>
            <a:spLocks xmlns:a="http://schemas.openxmlformats.org/drawingml/2006/main" noGrp="1"/>
          </p:cNvSpPr>
          <p:nvPr/>
        </p:nvSpPr>
        <p:spPr>
          <a:xfrm xmlns:a="http://schemas.openxmlformats.org/drawingml/2006/main">
            <a:off x="609600" y="54959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020"/>
                </a:solidFill>
                <a:latin typeface="Helvetica Neue"/>
                <a:ea typeface="Helvetica Neue"/>
                <a:cs typeface="Helvetica Neue"/>
              </a:defRPr>
            </a:pPr>
            <a:r>
              <a:rPr sz="2025" b="1">
                <a:solidFill>
                  <a:srgbClr val="202020"/>
                </a:solidFill>
                <a:latin typeface="Helvetica Neue"/>
                <a:ea typeface="Helvetica Neue"/>
                <a:cs typeface="Helvetica Neue"/>
              </a:rPr>
              <a:t>Live boundary runs</a:t>
            </a:r>
          </a:p>
        </p:txBody>
      </p:sp>
      <p:sp>
        <p:nvSpPr>
          <p:cNvPr id="6" name="">
            <a:extLst xmlns:a="http://schemas.openxmlformats.org/drawingml/2006/main">
              <a:ext uri="{FF2B5EF4-FFF2-40B4-BE49-F238E27FC236}">
                <a16:creationId xmlns:a16="http://schemas.microsoft.com/office/drawing/2014/main" id="{4327C440-D0FD-413B-9489-5F09D01EB8D6}"/>
              </a:ext>
            </a:extLst>
          </p:cNvPr>
          <p:cNvSpPr>
            <a:spLocks xmlns:a="http://schemas.openxmlformats.org/drawingml/2006/main" noGrp="1"/>
          </p:cNvSpPr>
          <p:nvPr/>
        </p:nvSpPr>
        <p:spPr>
          <a:xfrm xmlns:a="http://schemas.openxmlformats.org/drawingml/2006/main">
            <a:off x="609600" y="59436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020"/>
                </a:solidFill>
                <a:latin typeface="Helvetica Neue"/>
                <a:ea typeface="Helvetica Neue"/>
                <a:cs typeface="Helvetica Neue"/>
              </a:defRPr>
            </a:pPr>
            <a:r>
              <a:rPr sz="1650" b="0">
                <a:solidFill>
                  <a:srgbClr val="202020"/>
                </a:solidFill>
                <a:latin typeface="Helvetica Neue"/>
                <a:ea typeface="Helvetica Neue"/>
                <a:cs typeface="Helvetica Neue"/>
              </a:rPr>
              <a:t>Over-cap offer blocked · unlisted vendor blocked · paused task stops after one request</a:t>
            </a:r>
          </a:p>
        </p:txBody>
      </p:sp>
    </p:spTree>
    <p:extLst>
      <p:ext uri="{BB962C8B-B14F-4D97-AF65-F5344CB8AC3E}">
        <p14:creationId xmlns:p14="http://schemas.microsoft.com/office/powerpoint/2010/main" val="2141179376"/>
      </p:ext>
    </p:extLst>
  </p:cSld>
</p:sld>
</file>

<file path=ppt/slides/slide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2E2D60-9494-4526-8225-640CE317603F}"/>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Measured inference efficiency</a:t>
            </a:r>
          </a:p>
        </p:txBody>
      </p:sp>
      <p:sp>
        <p:nvSpPr>
          <p:cNvPr id="2" name="">
            <a:extLst xmlns:a="http://schemas.openxmlformats.org/drawingml/2006/main">
              <a:ext uri="{FF2B5EF4-FFF2-40B4-BE49-F238E27FC236}">
                <a16:creationId xmlns:a16="http://schemas.microsoft.com/office/drawing/2014/main" id="{A1AA6F8A-267B-4E67-890A-32F85340557F}"/>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A959D2DA-EFC4-4411-93E1-74444DC9DFB0}"/>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08</a:t>
            </a:r>
          </a:p>
        </p:txBody>
      </p:sp>
      <p:graphicFrame>
        <p:nvGraphicFramePr>
          <p:cNvPr id="10" name=""/>
          <p:cNvGraphicFramePr/>
          <p:nvPr/>
        </p:nvGraphicFramePr>
        <p:xfrm>
          <a:off xmlns:a="http://schemas.openxmlformats.org/drawingml/2006/main" x="609600" y="1562100"/>
          <a:ext xmlns:a="http://schemas.openxmlformats.org/drawingml/2006/main" cx="10972800" cy="3495675"/>
        </p:xfrm>
        <a:graphic xmlns:a="http://schemas.openxmlformats.org/drawingml/2006/main">
          <a:graphicData uri="http://schemas.openxmlformats.org/drawingml/2006/table">
            <a:tbl>
              <a:tblPr/>
              <a:tblGrid>
                <a:gridCol w="4953000"/>
                <a:gridCol w="2800350"/>
                <a:gridCol w="3219450"/>
              </a:tblGrid>
              <a:tr h="582613">
                <a:tc>
                  <a:txBody>
                    <a:bodyPr/>
                    <a:lstStyle/>
                    <a:p>
                      <a:r>
                        <a:rPr sz="1725" b="1">
                          <a:solidFill>
                            <a:srgbClr val="202020"/>
                          </a:solidFill>
                          <a:latin typeface="Helvetica Neue"/>
                          <a:ea typeface="Helvetica Neue"/>
                          <a:cs typeface="Helvetica Neue"/>
                        </a:rPr>
                        <a:t>Eight matched documents</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First read</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Exact cache replay</a:t>
                      </a:r>
                    </a:p>
                  </a:txBody>
                  <a:tcPr marL="133350" marR="133350" marT="114300" marB="114300" anchor="ctr">
                    <a:solidFill>
                      <a:srgbClr val="EAEAE6"/>
                    </a:solidFill>
                  </a:tcPr>
                </a:tc>
              </a:tr>
              <a:tr h="582613">
                <a:tc>
                  <a:txBody>
                    <a:bodyPr/>
                    <a:lstStyle/>
                    <a:p>
                      <a:r>
                        <a:rPr sz="1725">
                          <a:solidFill>
                            <a:srgbClr val="202020"/>
                          </a:solidFill>
                          <a:latin typeface="Helvetica Neue"/>
                          <a:ea typeface="Helvetica Neue"/>
                          <a:cs typeface="Helvetica Neue"/>
                        </a:rPr>
                        <a:t>Expected policy outcomes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8 / 8</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8 / 8</a:t>
                      </a:r>
                    </a:p>
                  </a:txBody>
                  <a:tcPr marL="133350" marR="133350" marT="114300" marB="114300" anchor="ctr">
                    <a:solidFill>
                      <a:srgbClr val="F6F5F1"/>
                    </a:solidFill>
                  </a:tcPr>
                </a:tc>
              </a:tr>
              <a:tr h="582613">
                <a:tc>
                  <a:txBody>
                    <a:bodyPr/>
                    <a:lstStyle/>
                    <a:p>
                      <a:r>
                        <a:rPr sz="1725">
                          <a:solidFill>
                            <a:srgbClr val="202020"/>
                          </a:solidFill>
                          <a:latin typeface="Helvetica Neue"/>
                          <a:ea typeface="Helvetica Neue"/>
                          <a:cs typeface="Helvetica Neue"/>
                        </a:rPr>
                        <a:t>Inference API requests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8</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0</a:t>
                      </a:r>
                    </a:p>
                  </a:txBody>
                  <a:tcPr marL="133350" marR="133350" marT="114300" marB="114300" anchor="ctr">
                    <a:solidFill>
                      <a:srgbClr val="F6F5F1"/>
                    </a:solidFill>
                  </a:tcPr>
                </a:tc>
              </a:tr>
              <a:tr h="582613">
                <a:tc>
                  <a:txBody>
                    <a:bodyPr/>
                    <a:lstStyle/>
                    <a:p>
                      <a:r>
                        <a:rPr sz="1725">
                          <a:solidFill>
                            <a:srgbClr val="202020"/>
                          </a:solidFill>
                          <a:latin typeface="Helvetica Neue"/>
                          <a:ea typeface="Helvetica Neue"/>
                          <a:cs typeface="Helvetica Neue"/>
                        </a:rPr>
                        <a:t>Prompt / completion tokens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5,067 / 986</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0 / 0 newly sent</a:t>
                      </a:r>
                    </a:p>
                  </a:txBody>
                  <a:tcPr marL="133350" marR="133350" marT="114300" marB="114300" anchor="ctr">
                    <a:solidFill>
                      <a:srgbClr val="F6F5F1"/>
                    </a:solidFill>
                  </a:tcPr>
                </a:tc>
              </a:tr>
              <a:tr h="582613">
                <a:tc>
                  <a:txBody>
                    <a:bodyPr/>
                    <a:lstStyle/>
                    <a:p>
                      <a:r>
                        <a:rPr sz="1725">
                          <a:solidFill>
                            <a:srgbClr val="202020"/>
                          </a:solidFill>
                          <a:latin typeface="Helvetica Neue"/>
                          <a:ea typeface="Helvetica Neue"/>
                          <a:cs typeface="Helvetica Neue"/>
                        </a:rPr>
                        <a:t>Reported inference cost</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$0.000525</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$0</a:t>
                      </a:r>
                    </a:p>
                  </a:txBody>
                  <a:tcPr marL="133350" marR="133350" marT="114300" marB="114300" anchor="ctr">
                    <a:solidFill>
                      <a:srgbClr val="F6F5F1"/>
                    </a:solidFill>
                  </a:tcPr>
                </a:tc>
              </a:tr>
              <a:tr h="582613">
                <a:tc>
                  <a:txBody>
                    <a:bodyPr/>
                    <a:lstStyle/>
                    <a:p>
                      <a:r>
                        <a:rPr sz="1725">
                          <a:solidFill>
                            <a:srgbClr val="202020"/>
                          </a:solidFill>
                          <a:latin typeface="Helvetica Neue"/>
                          <a:ea typeface="Helvetica Neue"/>
                          <a:cs typeface="Helvetica Neue"/>
                        </a:rPr>
                        <a:t>Median document-read time</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2.299 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0.0014 s</a:t>
                      </a:r>
                    </a:p>
                  </a:txBody>
                  <a:tcPr marL="133350" marR="133350" marT="114300" marB="114300" anchor="ctr">
                    <a:solidFill>
                      <a:srgbClr val="F6F5F1"/>
                    </a:solidFill>
                  </a:tcPr>
                </a:tc>
              </a:tr>
            </a:tbl>
          </a:graphicData>
        </a:graphic>
      </p:graphicFrame>
      <p:sp>
        <p:nvSpPr>
          <p:cNvPr id="5" name="">
            <a:extLst xmlns:a="http://schemas.openxmlformats.org/drawingml/2006/main">
              <a:ext uri="{FF2B5EF4-FFF2-40B4-BE49-F238E27FC236}">
                <a16:creationId xmlns:a16="http://schemas.microsoft.com/office/drawing/2014/main" id="{4D9CFD43-5E02-4060-8271-EF46D0EB6F12}"/>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Helvetica Neue"/>
                <a:ea typeface="Helvetica Neue"/>
                <a:cs typeface="Helvetica Neue"/>
              </a:defRPr>
            </a:pPr>
            <a:r>
              <a:rPr sz="2100" b="1">
                <a:solidFill>
                  <a:srgbClr val="202020"/>
                </a:solidFill>
                <a:latin typeface="Helvetica Neue"/>
                <a:ea typeface="Helvetica Neue"/>
                <a:cs typeface="Helvetica Neue"/>
              </a:rPr>
              <a:t>Energy estimate: 0.092–1.679 Wh for the first reads</a:t>
            </a:r>
          </a:p>
        </p:txBody>
      </p:sp>
      <p:sp>
        <p:nvSpPr>
          <p:cNvPr id="6" name="">
            <a:extLst xmlns:a="http://schemas.openxmlformats.org/drawingml/2006/main">
              <a:ext uri="{FF2B5EF4-FFF2-40B4-BE49-F238E27FC236}">
                <a16:creationId xmlns:a16="http://schemas.microsoft.com/office/drawing/2014/main" id="{E67F529C-FD41-4674-BC86-706AD0F56CA4}"/>
              </a:ext>
            </a:extLst>
          </p:cNvPr>
          <p:cNvSpPr>
            <a:spLocks xmlns:a="http://schemas.openxmlformats.org/drawingml/2006/main" noGrp="1"/>
          </p:cNvSpPr>
          <p:nvPr/>
        </p:nvSpPr>
        <p:spPr>
          <a:xfrm xmlns:a="http://schemas.openxmlformats.org/drawingml/2006/main">
            <a:off x="609600" y="58293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6565"/>
                </a:solidFill>
                <a:latin typeface="Helvetica Neue"/>
                <a:ea typeface="Helvetica Neue"/>
                <a:cs typeface="Helvetica Neue"/>
              </a:defRPr>
            </a:pPr>
            <a:r>
              <a:rPr sz="1575" b="0">
                <a:solidFill>
                  <a:srgbClr val="656565"/>
                </a:solidFill>
                <a:latin typeface="Helvetica Neue"/>
                <a:ea typeface="Helvetica Neue"/>
                <a:cs typeface="Helvetica Neue"/>
              </a:rPr>
              <a:t>Accelerator assumptions, not measured Kiln power. Cache figures describe repeated</a:t>
            </a:r>
          </a:p>
          <a:p xmlns:a="http://schemas.openxmlformats.org/drawingml/2006/main">
            <a:pPr>
              <a:defRPr sz="1575" b="0">
                <a:solidFill>
                  <a:srgbClr val="656565"/>
                </a:solidFill>
                <a:latin typeface="Helvetica Neue"/>
                <a:ea typeface="Helvetica Neue"/>
                <a:cs typeface="Helvetica Neue"/>
              </a:defRPr>
            </a:pPr>
            <a:r>
              <a:rPr sz="1575" b="0">
                <a:solidFill>
                  <a:srgbClr val="656565"/>
                </a:solidFill>
                <a:latin typeface="Helvetica Neue"/>
                <a:ea typeface="Helvetica Neue"/>
                <a:cs typeface="Helvetica Neue"/>
              </a:rPr>
              <a:t>requests on these fixtures; they do not establish accuracy on unseen documents.</a:t>
            </a:r>
          </a:p>
        </p:txBody>
      </p:sp>
    </p:spTree>
    <p:extLst>
      <p:ext uri="{BB962C8B-B14F-4D97-AF65-F5344CB8AC3E}">
        <p14:creationId xmlns:p14="http://schemas.microsoft.com/office/powerpoint/2010/main" val="468665107"/>
      </p:ext>
    </p:extLst>
  </p:cSld>
</p:sld>
</file>

<file path=ppt/slides/slide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1759EF-CD5E-4746-82CE-F22FDF885FBE}"/>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Commercial focus and alternatives</a:t>
            </a:r>
          </a:p>
        </p:txBody>
      </p:sp>
      <p:sp>
        <p:nvSpPr>
          <p:cNvPr id="2" name="">
            <a:extLst xmlns:a="http://schemas.openxmlformats.org/drawingml/2006/main">
              <a:ext uri="{FF2B5EF4-FFF2-40B4-BE49-F238E27FC236}">
                <a16:creationId xmlns:a16="http://schemas.microsoft.com/office/drawing/2014/main" id="{D51D4C81-767A-4E14-872B-18D89FF7DB50}"/>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2F4AF858-AA61-4C35-A0EA-3836EACDECAA}"/>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609600" y="1609725"/>
          <a:ext xmlns:a="http://schemas.openxmlformats.org/drawingml/2006/main" cx="10972800" cy="2609850"/>
        </p:xfrm>
        <a:graphic xmlns:a="http://schemas.openxmlformats.org/drawingml/2006/main">
          <a:graphicData uri="http://schemas.openxmlformats.org/drawingml/2006/table">
            <a:tbl>
              <a:tblPr/>
              <a:tblGrid>
                <a:gridCol w="4048125"/>
                <a:gridCol w="6924675"/>
              </a:tblGrid>
              <a:tr h="652463">
                <a:tc>
                  <a:txBody>
                    <a:bodyPr/>
                    <a:lstStyle/>
                    <a:p>
                      <a:r>
                        <a:rPr sz="1725" b="1">
                          <a:solidFill>
                            <a:srgbClr val="202020"/>
                          </a:solidFill>
                          <a:latin typeface="Helvetica Neue"/>
                          <a:ea typeface="Helvetica Neue"/>
                          <a:cs typeface="Helvetica Neue"/>
                        </a:rPr>
                        <a:t>Existing infrastructure</a:t>
                      </a:r>
                    </a:p>
                  </a:txBody>
                  <a:tcPr marL="133350" marR="133350" marT="114300" marB="114300" anchor="ctr">
                    <a:solidFill>
                      <a:srgbClr val="EAEAE6"/>
                    </a:solidFill>
                  </a:tcPr>
                </a:tc>
                <a:tc>
                  <a:txBody>
                    <a:bodyPr/>
                    <a:lstStyle/>
                    <a:p>
                      <a:r>
                        <a:rPr sz="1725" b="1">
                          <a:solidFill>
                            <a:srgbClr val="202020"/>
                          </a:solidFill>
                          <a:latin typeface="Helvetica Neue"/>
                          <a:ea typeface="Helvetica Neue"/>
                          <a:cs typeface="Helvetica Neue"/>
                        </a:rPr>
                        <a:t>Documented strength</a:t>
                      </a:r>
                    </a:p>
                  </a:txBody>
                  <a:tcPr marL="133350" marR="133350" marT="114300" marB="114300" anchor="ctr">
                    <a:solidFill>
                      <a:srgbClr val="EAEAE6"/>
                    </a:solidFill>
                  </a:tcPr>
                </a:tc>
              </a:tr>
              <a:tr h="652463">
                <a:tc>
                  <a:txBody>
                    <a:bodyPr/>
                    <a:lstStyle/>
                    <a:p>
                      <a:r>
                        <a:rPr sz="1725">
                          <a:solidFill>
                            <a:srgbClr val="202020"/>
                          </a:solidFill>
                          <a:latin typeface="Helvetica Neue"/>
                          <a:ea typeface="Helvetica Neue"/>
                          <a:cs typeface="Helvetica Neue"/>
                        </a:rPr>
                        <a:t>Stripe shared payment tokens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Seller, amount and time-limited payment credentials</a:t>
                      </a:r>
                    </a:p>
                  </a:txBody>
                  <a:tcPr marL="133350" marR="133350" marT="114300" marB="114300" anchor="ctr">
                    <a:solidFill>
                      <a:srgbClr val="F6F5F1"/>
                    </a:solidFill>
                  </a:tcPr>
                </a:tc>
              </a:tr>
              <a:tr h="652463">
                <a:tc>
                  <a:txBody>
                    <a:bodyPr/>
                    <a:lstStyle/>
                    <a:p>
                      <a:r>
                        <a:rPr sz="1725">
                          <a:solidFill>
                            <a:srgbClr val="202020"/>
                          </a:solidFill>
                          <a:latin typeface="Helvetica Neue"/>
                          <a:ea typeface="Helvetica Neue"/>
                          <a:cs typeface="Helvetica Neue"/>
                        </a:rPr>
                        <a:t>Coinbase Agentic Wallet</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Agent wallet tools and spending limits</a:t>
                      </a:r>
                    </a:p>
                  </a:txBody>
                  <a:tcPr marL="133350" marR="133350" marT="114300" marB="114300" anchor="ctr">
                    <a:solidFill>
                      <a:srgbClr val="F6F5F1"/>
                    </a:solidFill>
                  </a:tcPr>
                </a:tc>
              </a:tr>
              <a:tr h="652463">
                <a:tc>
                  <a:txBody>
                    <a:bodyPr/>
                    <a:lstStyle/>
                    <a:p>
                      <a:r>
                        <a:rPr sz="1725">
                          <a:solidFill>
                            <a:srgbClr val="202020"/>
                          </a:solidFill>
                          <a:latin typeface="Helvetica Neue"/>
                          <a:ea typeface="Helvetica Neue"/>
                          <a:cs typeface="Helvetica Neue"/>
                        </a:rPr>
                        <a:t>Safe smart accounts</a:t>
                      </a:r>
                    </a:p>
                  </a:txBody>
                  <a:tcPr marL="133350" marR="133350" marT="114300" marB="114300" anchor="ctr">
                    <a:solidFill>
                      <a:srgbClr val="F6F5F1"/>
                    </a:solidFill>
                  </a:tcPr>
                </a:tc>
                <a:tc>
                  <a:txBody>
                    <a:bodyPr/>
                    <a:lstStyle/>
                    <a:p>
                      <a:r>
                        <a:rPr sz="1725">
                          <a:solidFill>
                            <a:srgbClr val="202020"/>
                          </a:solidFill>
                          <a:latin typeface="Helvetica Neue"/>
                          <a:ea typeface="Helvetica Neue"/>
                          <a:cs typeface="Helvetica Neue"/>
                        </a:rPr>
                        <a:t>Treasury permissions and programmable policies</a:t>
                      </a:r>
                    </a:p>
                  </a:txBody>
                  <a:tcPr marL="133350" marR="133350" marT="114300" marB="114300" anchor="ctr">
                    <a:solidFill>
                      <a:srgbClr val="F6F5F1"/>
                    </a:solidFill>
                  </a:tcPr>
                </a:tc>
              </a:tr>
            </a:tbl>
          </a:graphicData>
        </a:graphic>
      </p:graphicFrame>
      <p:sp>
        <p:nvSpPr>
          <p:cNvPr id="5" name="">
            <a:extLst xmlns:a="http://schemas.openxmlformats.org/drawingml/2006/main">
              <a:ext uri="{FF2B5EF4-FFF2-40B4-BE49-F238E27FC236}">
                <a16:creationId xmlns:a16="http://schemas.microsoft.com/office/drawing/2014/main" id="{C08F9AC3-DBC4-4394-AD1F-ADEF0E864BC4}"/>
              </a:ext>
            </a:extLst>
          </p:cNvPr>
          <p:cNvSpPr>
            <a:spLocks xmlns:a="http://schemas.openxmlformats.org/drawingml/2006/main" noGrp="1"/>
          </p:cNvSpPr>
          <p:nvPr/>
        </p:nvSpPr>
        <p:spPr>
          <a:xfrm xmlns:a="http://schemas.openxmlformats.org/drawingml/2006/main">
            <a:off x="609600" y="453390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020"/>
                </a:solidFill>
                <a:latin typeface="Helvetica Neue"/>
                <a:ea typeface="Helvetica Neue"/>
                <a:cs typeface="Helvetica Neue"/>
              </a:defRPr>
            </a:pPr>
            <a:r>
              <a:rPr sz="2325" b="1">
                <a:solidFill>
                  <a:srgbClr val="202020"/>
                </a:solidFill>
                <a:latin typeface="Helvetica Neue"/>
                <a:ea typeface="Helvetica Neue"/>
                <a:cs typeface="Helvetica Neue"/>
              </a:rPr>
              <a:t>Ploby’s product focus</a:t>
            </a:r>
          </a:p>
        </p:txBody>
      </p:sp>
      <p:sp>
        <p:nvSpPr>
          <p:cNvPr id="6" name="">
            <a:extLst xmlns:a="http://schemas.openxmlformats.org/drawingml/2006/main">
              <a:ext uri="{FF2B5EF4-FFF2-40B4-BE49-F238E27FC236}">
                <a16:creationId xmlns:a16="http://schemas.microsoft.com/office/drawing/2014/main" id="{2D777984-05E2-41E2-ACED-36A14BCF508F}"/>
              </a:ext>
            </a:extLst>
          </p:cNvPr>
          <p:cNvSpPr>
            <a:spLocks xmlns:a="http://schemas.openxmlformats.org/drawingml/2006/main" noGrp="1"/>
          </p:cNvSpPr>
          <p:nvPr/>
        </p:nvSpPr>
        <p:spPr>
          <a:xfrm xmlns:a="http://schemas.openxmlformats.org/drawingml/2006/main">
            <a:off x="609600" y="50387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Bilateral project terms, receipt settlement and a portable record of why each payment passed.</a:t>
            </a:r>
          </a:p>
        </p:txBody>
      </p:sp>
      <p:sp>
        <p:nvSpPr>
          <p:cNvPr id="7" name="">
            <a:extLst xmlns:a="http://schemas.openxmlformats.org/drawingml/2006/main">
              <a:ext uri="{FF2B5EF4-FFF2-40B4-BE49-F238E27FC236}">
                <a16:creationId xmlns:a16="http://schemas.microsoft.com/office/drawing/2014/main" id="{01B4EF15-4FE7-4C24-A189-871CD4817899}"/>
              </a:ext>
            </a:extLst>
          </p:cNvPr>
          <p:cNvSpPr>
            <a:spLocks xmlns:a="http://schemas.openxmlformats.org/drawingml/2006/main" noGrp="1"/>
          </p:cNvSpPr>
          <p:nvPr/>
        </p:nvSpPr>
        <p:spPr>
          <a:xfrm xmlns:a="http://schemas.openxmlformats.org/drawingml/2006/main">
            <a:off x="609600" y="5819775"/>
            <a:ext cx="10991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6565"/>
                </a:solidFill>
                <a:latin typeface="Helvetica Neue"/>
                <a:ea typeface="Helvetica Neue"/>
                <a:cs typeface="Helvetica Neue"/>
              </a:defRPr>
            </a:pPr>
            <a:r>
              <a:rPr sz="1575" b="0">
                <a:solidFill>
                  <a:srgbClr val="656565"/>
                </a:solidFill>
                <a:latin typeface="Helvetica Neue"/>
                <a:ea typeface="Helvetica Neue"/>
                <a:cs typeface="Helvetica Neue"/>
              </a:rPr>
              <a:t>Validation plan: 3 agencies / 10 projects. Pricing hypothesis: $49 per workspace per month.</a:t>
            </a:r>
          </a:p>
          <a:p xmlns:a="http://schemas.openxmlformats.org/drawingml/2006/main">
            <a:pPr>
              <a:defRPr sz="1575" b="0">
                <a:solidFill>
                  <a:srgbClr val="656565"/>
                </a:solidFill>
                <a:latin typeface="Helvetica Neue"/>
                <a:ea typeface="Helvetica Neue"/>
                <a:cs typeface="Helvetica Neue"/>
              </a:defRPr>
            </a:pPr>
            <a:r>
              <a:rPr sz="1575" b="0">
                <a:solidFill>
                  <a:srgbClr val="656565"/>
                </a:solidFill>
                <a:latin typeface="Helvetica Neue"/>
                <a:ea typeface="Helvetica Neue"/>
                <a:cs typeface="Helvetica Neue"/>
              </a:rPr>
              <a:t>Measure approval time and reconciliation exceptions before making revenue claims.</a:t>
            </a:r>
          </a:p>
        </p:txBody>
      </p:sp>
    </p:spTree>
    <p:extLst>
      <p:ext uri="{BB962C8B-B14F-4D97-AF65-F5344CB8AC3E}">
        <p14:creationId xmlns:p14="http://schemas.microsoft.com/office/powerpoint/2010/main" val="1296338513"/>
      </p:ext>
    </p:extLst>
  </p:cSld>
</p:sld>
</file>

<file path=ppt/slides/slide10.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666A2F-B3CE-4DA0-8468-20B63A3C75E7}"/>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Roadmap toward production control</a:t>
            </a:r>
          </a:p>
        </p:txBody>
      </p:sp>
      <p:sp>
        <p:nvSpPr>
          <p:cNvPr id="2" name="">
            <a:extLst xmlns:a="http://schemas.openxmlformats.org/drawingml/2006/main">
              <a:ext uri="{FF2B5EF4-FFF2-40B4-BE49-F238E27FC236}">
                <a16:creationId xmlns:a16="http://schemas.microsoft.com/office/drawing/2014/main" id="{49D57937-840A-4BB9-8526-2E2A1221DD59}"/>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DC2AF0F8-9AC2-4B8D-8990-A89C788A1753}"/>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3D49D655-6F06-48C2-B20C-9FC46ACBF1FD}"/>
              </a:ext>
            </a:extLst>
          </p:cNvPr>
          <p:cNvSpPr>
            <a:spLocks xmlns:a="http://schemas.openxmlformats.org/drawingml/2006/main" noGrp="1"/>
          </p:cNvSpPr>
          <p:nvPr/>
        </p:nvSpPr>
        <p:spPr>
          <a:xfrm xmlns:a="http://schemas.openxmlformats.org/drawingml/2006/main">
            <a:off x="609600" y="168592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Now</a:t>
            </a:r>
          </a:p>
        </p:txBody>
      </p:sp>
      <p:sp>
        <p:nvSpPr>
          <p:cNvPr id="5" name="">
            <a:extLst xmlns:a="http://schemas.openxmlformats.org/drawingml/2006/main">
              <a:ext uri="{FF2B5EF4-FFF2-40B4-BE49-F238E27FC236}">
                <a16:creationId xmlns:a16="http://schemas.microsoft.com/office/drawing/2014/main" id="{71B81DB1-68E0-4688-87C2-7312AF878D0B}"/>
              </a:ext>
            </a:extLst>
          </p:cNvPr>
          <p:cNvSpPr>
            <a:spLocks xmlns:a="http://schemas.openxmlformats.org/drawingml/2006/main" noGrp="1"/>
          </p:cNvSpPr>
          <p:nvPr/>
        </p:nvSpPr>
        <p:spPr>
          <a:xfrm xmlns:a="http://schemas.openxmlformats.org/drawingml/2006/main">
            <a:off x="3209925" y="1666875"/>
            <a:ext cx="8239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Demonstrable controls</a:t>
            </a:r>
          </a:p>
        </p:txBody>
      </p:sp>
      <p:sp>
        <p:nvSpPr>
          <p:cNvPr id="6" name="">
            <a:extLst xmlns:a="http://schemas.openxmlformats.org/drawingml/2006/main">
              <a:ext uri="{FF2B5EF4-FFF2-40B4-BE49-F238E27FC236}">
                <a16:creationId xmlns:a16="http://schemas.microsoft.com/office/drawing/2014/main" id="{4F851911-CB51-45D1-84AD-2315E8DE2BF2}"/>
              </a:ext>
            </a:extLst>
          </p:cNvPr>
          <p:cNvSpPr>
            <a:spLocks xmlns:a="http://schemas.openxmlformats.org/drawingml/2006/main" noGrp="1"/>
          </p:cNvSpPr>
          <p:nvPr/>
        </p:nvSpPr>
        <p:spPr>
          <a:xfrm xmlns:a="http://schemas.openxmlformats.org/drawingml/2006/main">
            <a:off x="3209925" y="2209800"/>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Testnet settlement, optional wallet approvals, evidence export and reproducible checks.</a:t>
            </a:r>
          </a:p>
        </p:txBody>
      </p:sp>
      <p:sp>
        <p:nvSpPr>
          <p:cNvPr id="7" name="">
            <a:extLst xmlns:a="http://schemas.openxmlformats.org/drawingml/2006/main">
              <a:ext uri="{FF2B5EF4-FFF2-40B4-BE49-F238E27FC236}">
                <a16:creationId xmlns:a16="http://schemas.microsoft.com/office/drawing/2014/main" id="{E708EE71-1CF3-4007-A28D-31936B79A786}"/>
              </a:ext>
            </a:extLst>
          </p:cNvPr>
          <p:cNvSpPr>
            <a:spLocks xmlns:a="http://schemas.openxmlformats.org/drawingml/2006/main" noGrp="1"/>
          </p:cNvSpPr>
          <p:nvPr/>
        </p:nvSpPr>
        <p:spPr>
          <a:xfrm xmlns:a="http://schemas.openxmlformats.org/drawingml/2006/main">
            <a:off x="609600" y="31623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Next</a:t>
            </a:r>
          </a:p>
        </p:txBody>
      </p:sp>
      <p:sp>
        <p:nvSpPr>
          <p:cNvPr id="8" name="">
            <a:extLst xmlns:a="http://schemas.openxmlformats.org/drawingml/2006/main">
              <a:ext uri="{FF2B5EF4-FFF2-40B4-BE49-F238E27FC236}">
                <a16:creationId xmlns:a16="http://schemas.microsoft.com/office/drawing/2014/main" id="{3BD683F0-570A-445A-95F7-69302121778D}"/>
              </a:ext>
            </a:extLst>
          </p:cNvPr>
          <p:cNvSpPr>
            <a:spLocks xmlns:a="http://schemas.openxmlformats.org/drawingml/2006/main" noGrp="1"/>
          </p:cNvSpPr>
          <p:nvPr/>
        </p:nvSpPr>
        <p:spPr>
          <a:xfrm xmlns:a="http://schemas.openxmlformats.org/drawingml/2006/main">
            <a:off x="3209925" y="3143250"/>
            <a:ext cx="8239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Reduce trusted operator powers</a:t>
            </a:r>
          </a:p>
        </p:txBody>
      </p:sp>
      <p:sp>
        <p:nvSpPr>
          <p:cNvPr id="9" name="">
            <a:extLst xmlns:a="http://schemas.openxmlformats.org/drawingml/2006/main">
              <a:ext uri="{FF2B5EF4-FFF2-40B4-BE49-F238E27FC236}">
                <a16:creationId xmlns:a16="http://schemas.microsoft.com/office/drawing/2014/main" id="{D6D7F561-E63C-4EDA-9EFA-731B833571F0}"/>
              </a:ext>
            </a:extLst>
          </p:cNvPr>
          <p:cNvSpPr>
            <a:spLocks xmlns:a="http://schemas.openxmlformats.org/drawingml/2006/main" noGrp="1"/>
          </p:cNvSpPr>
          <p:nvPr/>
        </p:nvSpPr>
        <p:spPr>
          <a:xfrm xmlns:a="http://schemas.openxmlformats.org/drawingml/2006/main">
            <a:off x="3209925" y="3695700"/>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Verify approvals and tighter policy limits on chain.</a:t>
            </a:r>
          </a:p>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Exit: independent review plus key-recovery and failure tests.</a:t>
            </a:r>
          </a:p>
        </p:txBody>
      </p:sp>
      <p:sp>
        <p:nvSpPr>
          <p:cNvPr id="10" name="">
            <a:extLst xmlns:a="http://schemas.openxmlformats.org/drawingml/2006/main">
              <a:ext uri="{FF2B5EF4-FFF2-40B4-BE49-F238E27FC236}">
                <a16:creationId xmlns:a16="http://schemas.microsoft.com/office/drawing/2014/main" id="{EDAC6CD5-3A4C-4F3A-8A92-CA03AE3EB949}"/>
              </a:ext>
            </a:extLst>
          </p:cNvPr>
          <p:cNvSpPr>
            <a:spLocks xmlns:a="http://schemas.openxmlformats.org/drawingml/2006/main" noGrp="1"/>
          </p:cNvSpPr>
          <p:nvPr/>
        </p:nvSpPr>
        <p:spPr>
          <a:xfrm xmlns:a="http://schemas.openxmlformats.org/drawingml/2006/main">
            <a:off x="609600" y="473392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020"/>
                </a:solidFill>
                <a:latin typeface="Helvetica Neue"/>
                <a:ea typeface="Helvetica Neue"/>
                <a:cs typeface="Helvetica Neue"/>
              </a:defRPr>
            </a:pPr>
            <a:r>
              <a:rPr sz="2625" b="1">
                <a:solidFill>
                  <a:srgbClr val="202020"/>
                </a:solidFill>
                <a:latin typeface="Helvetica Neue"/>
                <a:ea typeface="Helvetica Neue"/>
                <a:cs typeface="Helvetica Neue"/>
              </a:rPr>
              <a:t>Pilot</a:t>
            </a:r>
          </a:p>
        </p:txBody>
      </p:sp>
      <p:sp>
        <p:nvSpPr>
          <p:cNvPr id="11" name="">
            <a:extLst xmlns:a="http://schemas.openxmlformats.org/drawingml/2006/main">
              <a:ext uri="{FF2B5EF4-FFF2-40B4-BE49-F238E27FC236}">
                <a16:creationId xmlns:a16="http://schemas.microsoft.com/office/drawing/2014/main" id="{047F5692-7F34-4938-899F-899467CDEFAF}"/>
              </a:ext>
            </a:extLst>
          </p:cNvPr>
          <p:cNvSpPr>
            <a:spLocks xmlns:a="http://schemas.openxmlformats.org/drawingml/2006/main" noGrp="1"/>
          </p:cNvSpPr>
          <p:nvPr/>
        </p:nvSpPr>
        <p:spPr>
          <a:xfrm xmlns:a="http://schemas.openxmlformats.org/drawingml/2006/main">
            <a:off x="3209925" y="4714875"/>
            <a:ext cx="8239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Connect evidence to real operations</a:t>
            </a:r>
          </a:p>
        </p:txBody>
      </p:sp>
      <p:sp>
        <p:nvSpPr>
          <p:cNvPr id="12" name="">
            <a:extLst xmlns:a="http://schemas.openxmlformats.org/drawingml/2006/main">
              <a:ext uri="{FF2B5EF4-FFF2-40B4-BE49-F238E27FC236}">
                <a16:creationId xmlns:a16="http://schemas.microsoft.com/office/drawing/2014/main" id="{C724321C-ED3E-4ADD-A0DE-B58246E4D085}"/>
              </a:ext>
            </a:extLst>
          </p:cNvPr>
          <p:cNvSpPr>
            <a:spLocks xmlns:a="http://schemas.openxmlformats.org/drawingml/2006/main" noGrp="1"/>
          </p:cNvSpPr>
          <p:nvPr/>
        </p:nvSpPr>
        <p:spPr>
          <a:xfrm xmlns:a="http://schemas.openxmlformats.org/drawingml/2006/main">
            <a:off x="3209925" y="5257800"/>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Vendor-authenticated receipts and agency pilots.</a:t>
            </a:r>
          </a:p>
          <a:p xmlns:a="http://schemas.openxmlformats.org/drawingml/2006/main">
            <a:pPr>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Exit: measured customer value and a reviewed path to real-money use.</a:t>
            </a:r>
          </a:p>
        </p:txBody>
      </p:sp>
    </p:spTree>
    <p:extLst>
      <p:ext uri="{BB962C8B-B14F-4D97-AF65-F5344CB8AC3E}">
        <p14:creationId xmlns:p14="http://schemas.microsoft.com/office/powerpoint/2010/main" val="1661240938"/>
      </p:ext>
    </p:extLst>
  </p:cSld>
</p:sld>
</file>

<file path=ppt/slides/slide11.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00D015-C641-4946-BBBB-A6F5747CF5CF}"/>
              </a:ext>
            </a:extLst>
          </p:cNvPr>
          <p:cNvSpPr>
            <a:spLocks xmlns:a="http://schemas.openxmlformats.org/drawingml/2006/main" noGrp="1"/>
          </p:cNvSpPr>
          <p:nvPr/>
        </p:nvSpPr>
        <p:spPr>
          <a:xfrm xmlns:a="http://schemas.openxmlformats.org/drawingml/2006/main">
            <a:off x="609600" y="438150"/>
            <a:ext cx="1093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Helvetica Neue"/>
                <a:ea typeface="Helvetica Neue"/>
                <a:cs typeface="Helvetica Neue"/>
              </a:defRPr>
            </a:pPr>
            <a:r>
              <a:rPr sz="3450" b="1">
                <a:solidFill>
                  <a:srgbClr val="202020"/>
                </a:solidFill>
                <a:latin typeface="Helvetica Neue"/>
                <a:ea typeface="Helvetica Neue"/>
                <a:cs typeface="Helvetica Neue"/>
              </a:rPr>
              <a:t>[Team name]</a:t>
            </a:r>
          </a:p>
        </p:txBody>
      </p:sp>
      <p:sp>
        <p:nvSpPr>
          <p:cNvPr id="2" name="">
            <a:extLst xmlns:a="http://schemas.openxmlformats.org/drawingml/2006/main">
              <a:ext uri="{FF2B5EF4-FFF2-40B4-BE49-F238E27FC236}">
                <a16:creationId xmlns:a16="http://schemas.microsoft.com/office/drawing/2014/main" id="{AF4FBEEE-EC02-4FD6-A7FD-25C9814E7902}"/>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Ploby  /  Challenge B</a:t>
            </a:r>
          </a:p>
        </p:txBody>
      </p:sp>
      <p:sp>
        <p:nvSpPr>
          <p:cNvPr id="3" name="">
            <a:extLst xmlns:a="http://schemas.openxmlformats.org/drawingml/2006/main">
              <a:ext uri="{FF2B5EF4-FFF2-40B4-BE49-F238E27FC236}">
                <a16:creationId xmlns:a16="http://schemas.microsoft.com/office/drawing/2014/main" id="{4A5DFC75-66FF-41E0-A35E-4F20701D0A76}"/>
              </a:ext>
            </a:extLst>
          </p:cNvPr>
          <p:cNvSpPr>
            <a:spLocks xmlns:a="http://schemas.openxmlformats.org/drawingml/2006/main" noGrp="1"/>
          </p:cNvSpPr>
          <p:nvPr/>
        </p:nvSpPr>
        <p:spPr>
          <a:xfrm xmlns:a="http://schemas.openxmlformats.org/drawingml/2006/main">
            <a:off x="11087100" y="64008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56565"/>
                </a:solidFill>
                <a:latin typeface="Helvetica Neue"/>
                <a:ea typeface="Helvetica Neue"/>
                <a:cs typeface="Helvetica Neue"/>
              </a:defRPr>
            </a:pPr>
            <a:r>
              <a:rPr sz="1125" b="0">
                <a:solidFill>
                  <a:srgbClr val="656565"/>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17BAAB8-124C-4BB3-86A5-C1C7A7395BED}"/>
              </a:ext>
            </a:extLst>
          </p:cNvPr>
          <p:cNvSpPr>
            <a:spLocks xmlns:a="http://schemas.openxmlformats.org/drawingml/2006/main" noGrp="1"/>
          </p:cNvSpPr>
          <p:nvPr/>
        </p:nvSpPr>
        <p:spPr>
          <a:xfrm xmlns:a="http://schemas.openxmlformats.org/drawingml/2006/main">
            <a:off x="609600" y="15525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Team introduction</a:t>
            </a:r>
          </a:p>
        </p:txBody>
      </p:sp>
      <p:sp>
        <p:nvSpPr>
          <p:cNvPr id="5" name="">
            <a:extLst xmlns:a="http://schemas.openxmlformats.org/drawingml/2006/main">
              <a:ext uri="{FF2B5EF4-FFF2-40B4-BE49-F238E27FC236}">
                <a16:creationId xmlns:a16="http://schemas.microsoft.com/office/drawing/2014/main" id="{5AEE3812-19B9-4B82-8C8E-56A05759CDBE}"/>
              </a:ext>
            </a:extLst>
          </p:cNvPr>
          <p:cNvSpPr>
            <a:spLocks xmlns:a="http://schemas.openxmlformats.org/drawingml/2006/main" noGrp="1"/>
          </p:cNvSpPr>
          <p:nvPr/>
        </p:nvSpPr>
        <p:spPr>
          <a:xfrm xmlns:a="http://schemas.openxmlformats.org/drawingml/2006/main">
            <a:off x="609600" y="23717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[Member name]  ·  [Role]</a:t>
            </a:r>
          </a:p>
        </p:txBody>
      </p:sp>
      <p:sp>
        <p:nvSpPr>
          <p:cNvPr id="6" name="">
            <a:extLst xmlns:a="http://schemas.openxmlformats.org/drawingml/2006/main">
              <a:ext uri="{FF2B5EF4-FFF2-40B4-BE49-F238E27FC236}">
                <a16:creationId xmlns:a16="http://schemas.microsoft.com/office/drawing/2014/main" id="{5A82401E-9335-4BFF-91C2-BB7D7D308885}"/>
              </a:ext>
            </a:extLst>
          </p:cNvPr>
          <p:cNvSpPr>
            <a:spLocks xmlns:a="http://schemas.openxmlformats.org/drawingml/2006/main" noGrp="1"/>
          </p:cNvSpPr>
          <p:nvPr/>
        </p:nvSpPr>
        <p:spPr>
          <a:xfrm xmlns:a="http://schemas.openxmlformats.org/drawingml/2006/main">
            <a:off x="609600" y="29527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56565"/>
                </a:solidFill>
                <a:latin typeface="Helvetica Neue"/>
                <a:ea typeface="Helvetica Neue"/>
                <a:cs typeface="Helvetica Neue"/>
              </a:defRPr>
            </a:pPr>
            <a:r>
              <a:rPr sz="2025" b="0">
                <a:solidFill>
                  <a:srgbClr val="656565"/>
                </a:solidFill>
                <a:latin typeface="Helvetica Neue"/>
                <a:ea typeface="Helvetica Neue"/>
                <a:cs typeface="Helvetica Neue"/>
              </a:rPr>
              <a:t>[Relevant experience or contribution]</a:t>
            </a:r>
          </a:p>
        </p:txBody>
      </p:sp>
      <p:sp>
        <p:nvSpPr>
          <p:cNvPr id="7" name="">
            <a:extLst xmlns:a="http://schemas.openxmlformats.org/drawingml/2006/main">
              <a:ext uri="{FF2B5EF4-FFF2-40B4-BE49-F238E27FC236}">
                <a16:creationId xmlns:a16="http://schemas.microsoft.com/office/drawing/2014/main" id="{A0B4F89D-098A-470A-8103-91E71EE6A4CB}"/>
              </a:ext>
            </a:extLst>
          </p:cNvPr>
          <p:cNvSpPr>
            <a:spLocks xmlns:a="http://schemas.openxmlformats.org/drawingml/2006/main" noGrp="1"/>
          </p:cNvSpPr>
          <p:nvPr/>
        </p:nvSpPr>
        <p:spPr>
          <a:xfrm xmlns:a="http://schemas.openxmlformats.org/drawingml/2006/main">
            <a:off x="609600" y="38766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020"/>
                </a:solidFill>
                <a:latin typeface="Helvetica Neue"/>
                <a:ea typeface="Helvetica Neue"/>
                <a:cs typeface="Helvetica Neue"/>
              </a:defRPr>
            </a:pPr>
            <a:r>
              <a:rPr sz="2475" b="1">
                <a:solidFill>
                  <a:srgbClr val="202020"/>
                </a:solidFill>
                <a:latin typeface="Helvetica Neue"/>
                <a:ea typeface="Helvetica Neue"/>
                <a:cs typeface="Helvetica Neue"/>
              </a:rPr>
              <a:t>[Member name]  ·  [Role]</a:t>
            </a:r>
          </a:p>
        </p:txBody>
      </p:sp>
      <p:sp>
        <p:nvSpPr>
          <p:cNvPr id="8" name="">
            <a:extLst xmlns:a="http://schemas.openxmlformats.org/drawingml/2006/main">
              <a:ext uri="{FF2B5EF4-FFF2-40B4-BE49-F238E27FC236}">
                <a16:creationId xmlns:a16="http://schemas.microsoft.com/office/drawing/2014/main" id="{993BF04C-313B-4616-BE37-2C5DD8943990}"/>
              </a:ext>
            </a:extLst>
          </p:cNvPr>
          <p:cNvSpPr>
            <a:spLocks xmlns:a="http://schemas.openxmlformats.org/drawingml/2006/main" noGrp="1"/>
          </p:cNvSpPr>
          <p:nvPr/>
        </p:nvSpPr>
        <p:spPr>
          <a:xfrm xmlns:a="http://schemas.openxmlformats.org/drawingml/2006/main">
            <a:off x="609600" y="445770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56565"/>
                </a:solidFill>
                <a:latin typeface="Helvetica Neue"/>
                <a:ea typeface="Helvetica Neue"/>
                <a:cs typeface="Helvetica Neue"/>
              </a:defRPr>
            </a:pPr>
            <a:r>
              <a:rPr sz="2025" b="0">
                <a:solidFill>
                  <a:srgbClr val="656565"/>
                </a:solidFill>
                <a:latin typeface="Helvetica Neue"/>
                <a:ea typeface="Helvetica Neue"/>
                <a:cs typeface="Helvetica Neue"/>
              </a:rPr>
              <a:t>[Relevant experience or contribution]</a:t>
            </a:r>
          </a:p>
        </p:txBody>
      </p:sp>
      <p:sp>
        <p:nvSpPr>
          <p:cNvPr id="9" name="">
            <a:extLst xmlns:a="http://schemas.openxmlformats.org/drawingml/2006/main">
              <a:ext uri="{FF2B5EF4-FFF2-40B4-BE49-F238E27FC236}">
                <a16:creationId xmlns:a16="http://schemas.microsoft.com/office/drawing/2014/main" id="{81A54855-E1E1-448A-85B2-2BEBE4E4E95B}"/>
              </a:ext>
            </a:extLst>
          </p:cNvPr>
          <p:cNvSpPr>
            <a:spLocks xmlns:a="http://schemas.openxmlformats.org/drawingml/2006/main" noGrp="1"/>
          </p:cNvSpPr>
          <p:nvPr/>
        </p:nvSpPr>
        <p:spPr>
          <a:xfrm xmlns:a="http://schemas.openxmlformats.org/drawingml/2006/main">
            <a:off x="609600" y="5381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020"/>
                </a:solidFill>
                <a:latin typeface="Helvetica Neue"/>
                <a:ea typeface="Helvetica Neue"/>
                <a:cs typeface="Helvetica Neue"/>
              </a:defRPr>
            </a:pPr>
            <a:r>
              <a:rPr sz="2025" b="1">
                <a:solidFill>
                  <a:srgbClr val="202020"/>
                </a:solidFill>
                <a:latin typeface="Helvetica Neue"/>
                <a:ea typeface="Helvetica Neue"/>
                <a:cs typeface="Helvetica Neue"/>
              </a:rPr>
              <a:t>Demonstrated scope</a:t>
            </a:r>
          </a:p>
        </p:txBody>
      </p:sp>
      <p:sp>
        <p:nvSpPr>
          <p:cNvPr id="10" name="">
            <a:extLst xmlns:a="http://schemas.openxmlformats.org/drawingml/2006/main">
              <a:ext uri="{FF2B5EF4-FFF2-40B4-BE49-F238E27FC236}">
                <a16:creationId xmlns:a16="http://schemas.microsoft.com/office/drawing/2014/main" id="{2437A6F4-1F7F-48C7-ADD2-3425BBDF493D}"/>
              </a:ext>
            </a:extLst>
          </p:cNvPr>
          <p:cNvSpPr>
            <a:spLocks xmlns:a="http://schemas.openxmlformats.org/drawingml/2006/main" noGrp="1"/>
          </p:cNvSpPr>
          <p:nvPr/>
        </p:nvSpPr>
        <p:spPr>
          <a:xfrm xmlns:a="http://schemas.openxmlformats.org/drawingml/2006/main">
            <a:off x="609600" y="5867400"/>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020"/>
                </a:solidFill>
                <a:latin typeface="Helvetica Neue"/>
                <a:ea typeface="Helvetica Neue"/>
                <a:cs typeface="Helvetica Neue"/>
              </a:defRPr>
            </a:pPr>
            <a:r>
              <a:rPr sz="1800" b="0">
                <a:solidFill>
                  <a:srgbClr val="202020"/>
                </a:solidFill>
                <a:latin typeface="Helvetica Neue"/>
                <a:ea typeface="Helvetica Neue"/>
                <a:cs typeface="Helvetica Neue"/>
              </a:rPr>
              <a:t>Product UI · Kiln agent · policy replay · Solidity escrow · portable evidence</a:t>
            </a:r>
          </a:p>
        </p:txBody>
      </p:sp>
    </p:spTree>
    <p:extLst>
      <p:ext uri="{BB962C8B-B14F-4D97-AF65-F5344CB8AC3E}">
        <p14:creationId xmlns:p14="http://schemas.microsoft.com/office/powerpoint/2010/main" val="1017275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2026-09-30T02:07:38.0510000Z</dcterms:created>
  <dcterms:modified xsi:type="dcterms:W3CDTF">2026-09-30T02:07:38.0510000Z</dcterms:modified>
</coreProperties>
</file>